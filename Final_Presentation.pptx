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3" r:id="rId1"/>
  </p:sldMasterIdLst>
  <p:notesMasterIdLst>
    <p:notesMasterId r:id="rId10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BE1D18-B678-490B-A485-A1A48FD1D305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6E7B5E-2BA4-42AA-8463-284EDBE7FB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830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E7B5E-2BA4-42AA-8463-284EDBE7FB6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326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E7B5E-2BA4-42AA-8463-284EDBE7FB6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289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E7B5E-2BA4-42AA-8463-284EDBE7FB6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817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D16E-901B-4B08-A1E8-180E6F7E1E8E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51C59-CB54-4AD1-81AD-8559FA19F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174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D16E-901B-4B08-A1E8-180E6F7E1E8E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BA51C59-CB54-4AD1-81AD-8559FA19F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822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D16E-901B-4B08-A1E8-180E6F7E1E8E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51C59-CB54-4AD1-81AD-8559FA19F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325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D16E-901B-4B08-A1E8-180E6F7E1E8E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51C59-CB54-4AD1-81AD-8559FA19F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253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D16E-901B-4B08-A1E8-180E6F7E1E8E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51C59-CB54-4AD1-81AD-8559FA19F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439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D16E-901B-4B08-A1E8-180E6F7E1E8E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51C59-CB54-4AD1-81AD-8559FA19F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483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D16E-901B-4B08-A1E8-180E6F7E1E8E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51C59-CB54-4AD1-81AD-8559FA19F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3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D16E-901B-4B08-A1E8-180E6F7E1E8E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51C59-CB54-4AD1-81AD-8559FA19F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9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D16E-901B-4B08-A1E8-180E6F7E1E8E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51C59-CB54-4AD1-81AD-8559FA19F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507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D16E-901B-4B08-A1E8-180E6F7E1E8E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51C59-CB54-4AD1-81AD-8559FA19F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918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D16E-901B-4B08-A1E8-180E6F7E1E8E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51C59-CB54-4AD1-81AD-8559FA19F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125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D16E-901B-4B08-A1E8-180E6F7E1E8E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51C59-CB54-4AD1-81AD-8559FA19F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425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D16E-901B-4B08-A1E8-180E6F7E1E8E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51C59-CB54-4AD1-81AD-8559FA19F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027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D16E-901B-4B08-A1E8-180E6F7E1E8E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51C59-CB54-4AD1-81AD-8559FA19F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977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D16E-901B-4B08-A1E8-180E6F7E1E8E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51C59-CB54-4AD1-81AD-8559FA19F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005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D16E-901B-4B08-A1E8-180E6F7E1E8E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51C59-CB54-4AD1-81AD-8559FA19F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418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D16E-901B-4B08-A1E8-180E6F7E1E8E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51C59-CB54-4AD1-81AD-8559FA19F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272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0D16E-901B-4B08-A1E8-180E6F7E1E8E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51C59-CB54-4AD1-81AD-8559FA19F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85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7B0D16E-901B-4B08-A1E8-180E6F7E1E8E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BA51C59-CB54-4AD1-81AD-8559FA19FC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509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  <p:sldLayoutId id="2147483975" r:id="rId12"/>
    <p:sldLayoutId id="2147483976" r:id="rId13"/>
    <p:sldLayoutId id="2147483977" r:id="rId14"/>
    <p:sldLayoutId id="2147483978" r:id="rId15"/>
    <p:sldLayoutId id="2147483979" r:id="rId16"/>
    <p:sldLayoutId id="2147483980" r:id="rId17"/>
    <p:sldLayoutId id="2147483981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1rn22ad019.mahiboobisakattar@rnsit.ac.in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F8833E7-10BF-8AD0-877D-53F8EB840E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22685" y="978931"/>
            <a:ext cx="1056451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Integrated Data Science Solutions: Time-Series Analysis &amp; RAG Systems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16160F-17CD-6C6E-8411-B9733E4FD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4531" y="2556387"/>
            <a:ext cx="9925417" cy="2104104"/>
          </a:xfrm>
        </p:spPr>
        <p:txBody>
          <a:bodyPr>
            <a:normAutofit/>
          </a:bodyPr>
          <a:lstStyle/>
          <a:p>
            <a:pPr algn="l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This presentation covers two key challenges in data science: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Cyclone Machine Data Analysis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– Understanding machine behavior through 3 years of sensor data, detecting shutdowns, anomalies, and short-term forecasting.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RAG System Design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– Designing an AI-powered document retrieval system for technical manuals, enabling fast and reliable Q&amp;A.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F6D4E8-531C-9553-A39D-10BBF5958D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225" y="134523"/>
            <a:ext cx="1904231" cy="4150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8D2E38B-E822-6A4C-8FB0-B07D99159DF8}"/>
              </a:ext>
            </a:extLst>
          </p:cNvPr>
          <p:cNvSpPr txBox="1"/>
          <p:nvPr/>
        </p:nvSpPr>
        <p:spPr>
          <a:xfrm>
            <a:off x="7233314" y="4997960"/>
            <a:ext cx="4798142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Name: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Mahiboob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Isak Attar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Gmail: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1rn22ad019.mahiboobisakattar@rnsit.ac.in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Phone no: 8088944535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College: RNS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4285261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910467-0D90-3EBF-E832-08F100C0C8B4}"/>
              </a:ext>
            </a:extLst>
          </p:cNvPr>
          <p:cNvSpPr txBox="1"/>
          <p:nvPr/>
        </p:nvSpPr>
        <p:spPr>
          <a:xfrm>
            <a:off x="1848464" y="698089"/>
            <a:ext cx="4365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Task 1 – Data Preparation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DF9FD6A-2BEB-9E37-F3E1-1D19A713C48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25446" y="1702618"/>
            <a:ext cx="9615948" cy="378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Dataset: 3 years of cyclone sensor data, 370,000+ records, 6 critical variables.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Steps Taken:</a:t>
            </a: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Handled missing timestamps and outliers.</a:t>
            </a: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Detected and labeled shutdown/idle periods programmatically.</a:t>
            </a: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Ensured strict 5-minute indexing for time-series consistency.</a:t>
            </a: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We started by cleaning the data to ensure accuracy and consistency. Identifying shutdowns early helps us separate normal operation from idle periods, which is critical for further analysis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1C26AA-9E26-E28F-DADC-121FA8D52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225" y="134523"/>
            <a:ext cx="1904231" cy="41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877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CC314D-D94C-4F75-6ADC-84C40443C952}"/>
              </a:ext>
            </a:extLst>
          </p:cNvPr>
          <p:cNvSpPr txBox="1"/>
          <p:nvPr/>
        </p:nvSpPr>
        <p:spPr>
          <a:xfrm>
            <a:off x="1730478" y="211393"/>
            <a:ext cx="5722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Task 1 – Analysis Strategy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6859060-860D-DDA3-1323-9C3D6E27360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30478" y="851328"/>
            <a:ext cx="10300978" cy="5449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Machine State Segmentation: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Applied clustering (K-Means / DBSCAN) on features like temperature, draft, rolling statistics.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Operational states identified: Normal, Startup/Shutdown, High Load, Degraded.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Anomaly Detection: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Cluster-specific methods (Isolation Forest / LOF).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Contextual anomalies flagged with variable attribution.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Forecasting: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Next-hour prediction of Cyclone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Inlet-Gas-Temp using ARIMA / Random Forest.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Metrics: RMSE, MAE.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By clustering operational data, we could define distinct machine states. Within each state, anomalies were detected contextually, ensuring alerts are meaningful. Forecasting helps anticipate temperature changes for proactive maintenance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2E0772-0BE1-98AB-12F9-9BFF9EBE2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225" y="134523"/>
            <a:ext cx="1904231" cy="41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005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EBF684-7750-C75C-4398-57EBCFB808F8}"/>
              </a:ext>
            </a:extLst>
          </p:cNvPr>
          <p:cNvSpPr txBox="1"/>
          <p:nvPr/>
        </p:nvSpPr>
        <p:spPr>
          <a:xfrm>
            <a:off x="1563329" y="36593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Task 1 – Key Insights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8C155AA-A1E6-7515-6662-CC4A2FC69CB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63329" y="1240812"/>
            <a:ext cx="10048568" cy="378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Shutdown Patterns: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Frequent during high-load periods; average duration 1–2 hours.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Anomalies: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High Load state had most anomalies; sudden temperature drops often preceded shutdowns.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Root Cause Hypotheses: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Correlated variable spikes suggest inlet blockages or draft surges.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Recommendations: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Implement automated monitoring alerts, preventive maintenance scheduling, and further data collection for rare events.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Our analysis revealed patterns in machine behavior that can directly improve operational reliability. By understanding when and why anomalies occur, we can reduce downtime and improve efficiency.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3CC409-B3C9-CDF0-1087-277466F73B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225" y="134523"/>
            <a:ext cx="1904231" cy="41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344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19506B-5DBB-9F86-5884-5058283E16FF}"/>
              </a:ext>
            </a:extLst>
          </p:cNvPr>
          <p:cNvSpPr txBox="1"/>
          <p:nvPr/>
        </p:nvSpPr>
        <p:spPr>
          <a:xfrm>
            <a:off x="1592827" y="186813"/>
            <a:ext cx="56954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Task 2 – RAG System Architecture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09FA69-1163-8AA3-9B1C-9703C741D4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827" y="891428"/>
            <a:ext cx="9517626" cy="3247118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A2E1FE43-627A-86E2-87A0-9ECE088FEB1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619000" y="4420871"/>
            <a:ext cx="7465279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Components:</a:t>
            </a:r>
            <a:endParaRPr kumimoji="0" lang="en-US" altLang="en-US" sz="24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Document ingestion &amp; preprocessing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Chunking strategy for effective search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Embeddings and vector indexing (FAISS / Chroma)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Retrieval layer for relevant chunks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LLM layer for generating accurate answers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Guardrails to prevent hallucinations and enforce citations</a:t>
            </a:r>
          </a:p>
        </p:txBody>
      </p:sp>
    </p:spTree>
    <p:extLst>
      <p:ext uri="{BB962C8B-B14F-4D97-AF65-F5344CB8AC3E}">
        <p14:creationId xmlns:p14="http://schemas.microsoft.com/office/powerpoint/2010/main" val="261901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ADEDE2-CEA6-19CC-F35C-BCEB79FACE06}"/>
              </a:ext>
            </a:extLst>
          </p:cNvPr>
          <p:cNvSpPr txBox="1"/>
          <p:nvPr/>
        </p:nvSpPr>
        <p:spPr>
          <a:xfrm>
            <a:off x="1622323" y="196646"/>
            <a:ext cx="65793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Task 2 – Retrieval Strategy &amp; Guardrails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103261-5D42-C7F0-CD34-F2B58240E35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494503" y="1535554"/>
            <a:ext cx="10933472" cy="2956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Document Chunking: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Small overlapping sections to improve search relevance.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Embedding Model: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Sentence Transformers for semantic understanding.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Retrieval: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Dense vector search with optional reranking for precision.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Guardrails: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Citation enforcement, filtering sensitive queries, handling unknowns gracefully.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his approach balances speed and accuracy. Even when the system doesn’t find an answer, it responds gracefully, and all outputs are traceable to source documents for trust.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1158CA-BB23-3C82-3775-EE86A91DC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225" y="134523"/>
            <a:ext cx="1904231" cy="41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75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90418E-DB58-A8B1-96C0-1A7AB255FA1F}"/>
              </a:ext>
            </a:extLst>
          </p:cNvPr>
          <p:cNvSpPr txBox="1"/>
          <p:nvPr/>
        </p:nvSpPr>
        <p:spPr>
          <a:xfrm>
            <a:off x="1484671" y="21845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Task 2 – Scalability &amp; Prototype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849766C-B6AD-B963-55FB-707877BA847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951703" y="1295540"/>
            <a:ext cx="9694606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Scalability: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Supports 10x more documents and 100+ concurrent users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Prototype: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Local vector store indexing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Free/open-source LLM (flan-t5-small)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Natural language Q&amp;A with citations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Optional Visual: Screenshot of prototype query &amp; response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AE9123-34DD-2E02-273B-7EB4DD1B0C65}"/>
              </a:ext>
            </a:extLst>
          </p:cNvPr>
          <p:cNvSpPr txBox="1"/>
          <p:nvPr/>
        </p:nvSpPr>
        <p:spPr>
          <a:xfrm>
            <a:off x="1484671" y="4916129"/>
            <a:ext cx="10628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prototype demonstrates how the system can answer real queries reliably. The design ensures it can scale up without performance loss and remain cost-efficient.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5A9C2F-2A61-58BA-A72C-45AC00720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225" y="134523"/>
            <a:ext cx="1904231" cy="41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428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1B4602-71F9-F36D-FFC9-8254EE08A736}"/>
              </a:ext>
            </a:extLst>
          </p:cNvPr>
          <p:cNvSpPr txBox="1"/>
          <p:nvPr/>
        </p:nvSpPr>
        <p:spPr>
          <a:xfrm>
            <a:off x="1730478" y="196645"/>
            <a:ext cx="4036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Conclusion / Takeaways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1A8320-8AA6-DDC5-1788-5BE53189E6F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888361" y="5836575"/>
            <a:ext cx="2743201" cy="739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Thank you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9C1E96E-051E-798C-9EC0-4FD8F60309D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465004" y="980967"/>
            <a:ext cx="10618841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 successfully analyzed 3 years of cyclone machine sensor data to understand operational patterns, detect anomalies, and forecast short-term behavior.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Clustering helped us identify machine states (Normal, High Load, Startup/Shutdown, Degraded) and link anomalies to potential causes.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Shutdown detection and anomaly insights provide actionable recommendations for monitoring and maintenance.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RAG system design allows fast and reliable access to technical documents using open-source AI models with proper guardrails.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combined solution demonstrates how data science and AI can improve operational efficiency, decision-making, and knowledge retrieval in a scalable and interpretable way.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27654B-EFCF-BD01-55AB-B93459E90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225" y="134523"/>
            <a:ext cx="1904231" cy="41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3889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123</TotalTime>
  <Words>694</Words>
  <Application>Microsoft Office PowerPoint</Application>
  <PresentationFormat>Widescreen</PresentationFormat>
  <Paragraphs>70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Corbel</vt:lpstr>
      <vt:lpstr>Wingdings</vt:lpstr>
      <vt:lpstr>Parallax</vt:lpstr>
      <vt:lpstr>Integrated Data Science Solutions: Time-Series Analysis &amp; RAG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Mahboob Attar</dc:creator>
  <cp:lastModifiedBy>Mahboob Attar</cp:lastModifiedBy>
  <cp:revision>2</cp:revision>
  <dcterms:created xsi:type="dcterms:W3CDTF">2025-10-04T11:21:21Z</dcterms:created>
  <dcterms:modified xsi:type="dcterms:W3CDTF">2025-10-04T13:26:01Z</dcterms:modified>
</cp:coreProperties>
</file>