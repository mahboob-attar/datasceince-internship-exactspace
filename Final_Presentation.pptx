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963" r:id="rId1"/>
  </p:sldMasterIdLst>
  <p:notesMasterIdLst>
    <p:notesMasterId r:id="rId12"/>
  </p:notesMasterIdLst>
  <p:sldIdLst>
    <p:sldId id="258" r:id="rId2"/>
    <p:sldId id="266" r:id="rId3"/>
    <p:sldId id="259" r:id="rId4"/>
    <p:sldId id="261" r:id="rId5"/>
    <p:sldId id="262" r:id="rId6"/>
    <p:sldId id="267" r:id="rId7"/>
    <p:sldId id="263" r:id="rId8"/>
    <p:sldId id="268" r:id="rId9"/>
    <p:sldId id="264" r:id="rId10"/>
    <p:sldId id="265" r:id="rId1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p:scale>
          <a:sx n="77" d="100"/>
          <a:sy n="77" d="100"/>
        </p:scale>
        <p:origin x="883" y="8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7BE1D18-B678-490B-A485-A1A48FD1D305}" type="datetimeFigureOut">
              <a:rPr lang="en-IN" smtClean="0"/>
              <a:t>04-10-2025</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16E7B5E-2BA4-42AA-8463-284EDBE7FB61}" type="slidenum">
              <a:rPr lang="en-IN" smtClean="0"/>
              <a:t>‹#›</a:t>
            </a:fld>
            <a:endParaRPr lang="en-IN"/>
          </a:p>
        </p:txBody>
      </p:sp>
    </p:spTree>
    <p:extLst>
      <p:ext uri="{BB962C8B-B14F-4D97-AF65-F5344CB8AC3E}">
        <p14:creationId xmlns:p14="http://schemas.microsoft.com/office/powerpoint/2010/main" val="310483055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916E7B5E-2BA4-42AA-8463-284EDBE7FB61}" type="slidenum">
              <a:rPr lang="en-IN" smtClean="0"/>
              <a:t>4</a:t>
            </a:fld>
            <a:endParaRPr lang="en-IN"/>
          </a:p>
        </p:txBody>
      </p:sp>
    </p:spTree>
    <p:extLst>
      <p:ext uri="{BB962C8B-B14F-4D97-AF65-F5344CB8AC3E}">
        <p14:creationId xmlns:p14="http://schemas.microsoft.com/office/powerpoint/2010/main" val="387928907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916E7B5E-2BA4-42AA-8463-284EDBE7FB61}" type="slidenum">
              <a:rPr lang="en-IN" smtClean="0"/>
              <a:t>5</a:t>
            </a:fld>
            <a:endParaRPr lang="en-IN"/>
          </a:p>
        </p:txBody>
      </p:sp>
    </p:spTree>
    <p:extLst>
      <p:ext uri="{BB962C8B-B14F-4D97-AF65-F5344CB8AC3E}">
        <p14:creationId xmlns:p14="http://schemas.microsoft.com/office/powerpoint/2010/main" val="390281716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19" name="Group 18"/>
          <p:cNvGrpSpPr/>
          <p:nvPr/>
        </p:nvGrpSpPr>
        <p:grpSpPr>
          <a:xfrm>
            <a:off x="546100" y="-4763"/>
            <a:ext cx="5014912" cy="6862763"/>
            <a:chOff x="2928938" y="-4763"/>
            <a:chExt cx="5014912" cy="6862763"/>
          </a:xfrm>
        </p:grpSpPr>
        <p:sp>
          <p:nvSpPr>
            <p:cNvPr id="22" name="Freeform 6"/>
            <p:cNvSpPr/>
            <p:nvPr/>
          </p:nvSpPr>
          <p:spPr bwMode="auto">
            <a:xfrm>
              <a:off x="3367088" y="-4763"/>
              <a:ext cx="1063625" cy="2782888"/>
            </a:xfrm>
            <a:custGeom>
              <a:avLst/>
              <a:gdLst/>
              <a:ahLst/>
              <a:cxnLst/>
              <a:rect l="0" t="0" r="r" b="b"/>
              <a:pathLst>
                <a:path w="670" h="1753">
                  <a:moveTo>
                    <a:pt x="0" y="1696"/>
                  </a:moveTo>
                  <a:lnTo>
                    <a:pt x="225" y="1753"/>
                  </a:lnTo>
                  <a:lnTo>
                    <a:pt x="670" y="0"/>
                  </a:lnTo>
                  <a:lnTo>
                    <a:pt x="430" y="0"/>
                  </a:lnTo>
                  <a:lnTo>
                    <a:pt x="0" y="1696"/>
                  </a:lnTo>
                  <a:close/>
                </a:path>
              </a:pathLst>
            </a:custGeom>
            <a:solidFill>
              <a:schemeClr val="accent1"/>
            </a:solidFill>
            <a:ln>
              <a:noFill/>
            </a:ln>
          </p:spPr>
        </p:sp>
        <p:sp>
          <p:nvSpPr>
            <p:cNvPr id="23" name="Freeform 7"/>
            <p:cNvSpPr/>
            <p:nvPr/>
          </p:nvSpPr>
          <p:spPr bwMode="auto">
            <a:xfrm>
              <a:off x="2928938" y="-4763"/>
              <a:ext cx="1035050" cy="2673350"/>
            </a:xfrm>
            <a:custGeom>
              <a:avLst/>
              <a:gdLst/>
              <a:ahLst/>
              <a:cxnLst/>
              <a:rect l="0" t="0" r="r" b="b"/>
              <a:pathLst>
                <a:path w="652" h="1684">
                  <a:moveTo>
                    <a:pt x="225" y="1684"/>
                  </a:moveTo>
                  <a:lnTo>
                    <a:pt x="652" y="0"/>
                  </a:lnTo>
                  <a:lnTo>
                    <a:pt x="411" y="0"/>
                  </a:lnTo>
                  <a:lnTo>
                    <a:pt x="0" y="1627"/>
                  </a:lnTo>
                  <a:lnTo>
                    <a:pt x="219" y="1681"/>
                  </a:lnTo>
                  <a:lnTo>
                    <a:pt x="225" y="1684"/>
                  </a:lnTo>
                  <a:close/>
                </a:path>
              </a:pathLst>
            </a:custGeom>
            <a:solidFill>
              <a:schemeClr val="tx1">
                <a:lumMod val="65000"/>
                <a:lumOff val="35000"/>
              </a:schemeClr>
            </a:solidFill>
            <a:ln>
              <a:noFill/>
            </a:ln>
          </p:spPr>
        </p:sp>
        <p:sp>
          <p:nvSpPr>
            <p:cNvPr id="24" name="Freeform 9"/>
            <p:cNvSpPr/>
            <p:nvPr/>
          </p:nvSpPr>
          <p:spPr bwMode="auto">
            <a:xfrm>
              <a:off x="2928938" y="2582862"/>
              <a:ext cx="2693987" cy="4275138"/>
            </a:xfrm>
            <a:custGeom>
              <a:avLst/>
              <a:gdLst/>
              <a:ahLst/>
              <a:cxnLst/>
              <a:rect l="0" t="0" r="r" b="b"/>
              <a:pathLst>
                <a:path w="1697" h="2693">
                  <a:moveTo>
                    <a:pt x="0" y="0"/>
                  </a:moveTo>
                  <a:lnTo>
                    <a:pt x="1622" y="2693"/>
                  </a:lnTo>
                  <a:lnTo>
                    <a:pt x="1697" y="2693"/>
                  </a:lnTo>
                  <a:lnTo>
                    <a:pt x="0" y="0"/>
                  </a:lnTo>
                  <a:close/>
                </a:path>
              </a:pathLst>
            </a:custGeom>
            <a:solidFill>
              <a:schemeClr val="tx1">
                <a:lumMod val="85000"/>
                <a:lumOff val="15000"/>
              </a:schemeClr>
            </a:solidFill>
            <a:ln>
              <a:noFill/>
            </a:ln>
          </p:spPr>
        </p:sp>
        <p:sp>
          <p:nvSpPr>
            <p:cNvPr id="25" name="Freeform 10"/>
            <p:cNvSpPr/>
            <p:nvPr/>
          </p:nvSpPr>
          <p:spPr bwMode="auto">
            <a:xfrm>
              <a:off x="3371850" y="2692400"/>
              <a:ext cx="3332162" cy="4165600"/>
            </a:xfrm>
            <a:custGeom>
              <a:avLst/>
              <a:gdLst/>
              <a:ahLst/>
              <a:cxnLst/>
              <a:rect l="0" t="0" r="r" b="b"/>
              <a:pathLst>
                <a:path w="2099" h="2624">
                  <a:moveTo>
                    <a:pt x="2099" y="2624"/>
                  </a:moveTo>
                  <a:lnTo>
                    <a:pt x="0" y="0"/>
                  </a:lnTo>
                  <a:lnTo>
                    <a:pt x="2021" y="2624"/>
                  </a:lnTo>
                  <a:lnTo>
                    <a:pt x="2099" y="2624"/>
                  </a:lnTo>
                  <a:close/>
                </a:path>
              </a:pathLst>
            </a:custGeom>
            <a:solidFill>
              <a:schemeClr val="accent1">
                <a:lumMod val="50000"/>
              </a:schemeClr>
            </a:solidFill>
            <a:ln>
              <a:noFill/>
            </a:ln>
          </p:spPr>
        </p:sp>
        <p:sp>
          <p:nvSpPr>
            <p:cNvPr id="26" name="Freeform 11"/>
            <p:cNvSpPr/>
            <p:nvPr/>
          </p:nvSpPr>
          <p:spPr bwMode="auto">
            <a:xfrm>
              <a:off x="3367088" y="2687637"/>
              <a:ext cx="4576762" cy="4170363"/>
            </a:xfrm>
            <a:custGeom>
              <a:avLst/>
              <a:gdLst/>
              <a:ahLst/>
              <a:cxnLst/>
              <a:rect l="0" t="0" r="r" b="b"/>
              <a:pathLst>
                <a:path w="2883" h="2627">
                  <a:moveTo>
                    <a:pt x="0" y="0"/>
                  </a:moveTo>
                  <a:lnTo>
                    <a:pt x="3" y="3"/>
                  </a:lnTo>
                  <a:lnTo>
                    <a:pt x="2102" y="2627"/>
                  </a:lnTo>
                  <a:lnTo>
                    <a:pt x="2883" y="2627"/>
                  </a:lnTo>
                  <a:lnTo>
                    <a:pt x="225" y="57"/>
                  </a:lnTo>
                  <a:lnTo>
                    <a:pt x="0" y="0"/>
                  </a:lnTo>
                  <a:close/>
                </a:path>
              </a:pathLst>
            </a:custGeom>
            <a:solidFill>
              <a:schemeClr val="accent1">
                <a:lumMod val="75000"/>
              </a:schemeClr>
            </a:solidFill>
            <a:ln>
              <a:noFill/>
            </a:ln>
          </p:spPr>
        </p:sp>
        <p:sp>
          <p:nvSpPr>
            <p:cNvPr id="27" name="Freeform 12"/>
            <p:cNvSpPr/>
            <p:nvPr/>
          </p:nvSpPr>
          <p:spPr bwMode="auto">
            <a:xfrm>
              <a:off x="2928938" y="2578100"/>
              <a:ext cx="3584575" cy="4279900"/>
            </a:xfrm>
            <a:custGeom>
              <a:avLst/>
              <a:gdLst/>
              <a:ahLst/>
              <a:cxnLst/>
              <a:rect l="0" t="0" r="r" b="b"/>
              <a:pathLst>
                <a:path w="2258" h="2696">
                  <a:moveTo>
                    <a:pt x="2258" y="2696"/>
                  </a:moveTo>
                  <a:lnTo>
                    <a:pt x="264" y="111"/>
                  </a:lnTo>
                  <a:lnTo>
                    <a:pt x="228" y="60"/>
                  </a:lnTo>
                  <a:lnTo>
                    <a:pt x="225" y="57"/>
                  </a:lnTo>
                  <a:lnTo>
                    <a:pt x="0" y="0"/>
                  </a:lnTo>
                  <a:lnTo>
                    <a:pt x="0" y="3"/>
                  </a:lnTo>
                  <a:lnTo>
                    <a:pt x="1697" y="2696"/>
                  </a:lnTo>
                  <a:lnTo>
                    <a:pt x="2258" y="2696"/>
                  </a:lnTo>
                  <a:close/>
                </a:path>
              </a:pathLst>
            </a:custGeom>
            <a:solidFill>
              <a:schemeClr val="tx1">
                <a:lumMod val="75000"/>
                <a:lumOff val="25000"/>
              </a:schemeClr>
            </a:solidFill>
            <a:ln>
              <a:noFill/>
            </a:ln>
          </p:spPr>
        </p:sp>
      </p:grpSp>
      <p:sp>
        <p:nvSpPr>
          <p:cNvPr id="2" name="Title 1"/>
          <p:cNvSpPr>
            <a:spLocks noGrp="1"/>
          </p:cNvSpPr>
          <p:nvPr>
            <p:ph type="ctrTitle"/>
          </p:nvPr>
        </p:nvSpPr>
        <p:spPr>
          <a:xfrm>
            <a:off x="2928401" y="1380068"/>
            <a:ext cx="8574622" cy="2616199"/>
          </a:xfrm>
        </p:spPr>
        <p:txBody>
          <a:bodyPr anchor="b">
            <a:normAutofit/>
          </a:bodyPr>
          <a:lstStyle>
            <a:lvl1pPr algn="r">
              <a:defRPr sz="6000">
                <a:effectLst/>
              </a:defRPr>
            </a:lvl1pPr>
          </a:lstStyle>
          <a:p>
            <a:r>
              <a:rPr lang="en-US"/>
              <a:t>Click to edit Master title style</a:t>
            </a:r>
            <a:endParaRPr lang="en-US" dirty="0"/>
          </a:p>
        </p:txBody>
      </p:sp>
      <p:sp>
        <p:nvSpPr>
          <p:cNvPr id="3" name="Subtitle 2"/>
          <p:cNvSpPr>
            <a:spLocks noGrp="1"/>
          </p:cNvSpPr>
          <p:nvPr>
            <p:ph type="subTitle" idx="1"/>
          </p:nvPr>
        </p:nvSpPr>
        <p:spPr>
          <a:xfrm>
            <a:off x="4515377" y="3996267"/>
            <a:ext cx="6987645" cy="1388534"/>
          </a:xfrm>
        </p:spPr>
        <p:txBody>
          <a:bodyPr anchor="t">
            <a:normAutofit/>
          </a:bodyPr>
          <a:lstStyle>
            <a:lvl1pPr marL="0" indent="0" algn="r">
              <a:buNone/>
              <a:defRPr sz="2100">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27B0D16E-901B-4B08-A1E8-180E6F7E1E8E}" type="datetimeFigureOut">
              <a:rPr lang="en-IN" smtClean="0"/>
              <a:t>04-10-2025</a:t>
            </a:fld>
            <a:endParaRPr lang="en-IN"/>
          </a:p>
        </p:txBody>
      </p:sp>
      <p:sp>
        <p:nvSpPr>
          <p:cNvPr id="5" name="Footer Placeholder 4"/>
          <p:cNvSpPr>
            <a:spLocks noGrp="1"/>
          </p:cNvSpPr>
          <p:nvPr>
            <p:ph type="ftr" sz="quarter" idx="11"/>
          </p:nvPr>
        </p:nvSpPr>
        <p:spPr>
          <a:xfrm>
            <a:off x="5332412" y="5883275"/>
            <a:ext cx="4324044" cy="365125"/>
          </a:xfrm>
        </p:spPr>
        <p:txBody>
          <a:bodyPr/>
          <a:lstStyle/>
          <a:p>
            <a:endParaRPr lang="en-IN"/>
          </a:p>
        </p:txBody>
      </p:sp>
      <p:sp>
        <p:nvSpPr>
          <p:cNvPr id="6" name="Slide Number Placeholder 5"/>
          <p:cNvSpPr>
            <a:spLocks noGrp="1"/>
          </p:cNvSpPr>
          <p:nvPr>
            <p:ph type="sldNum" sz="quarter" idx="12"/>
          </p:nvPr>
        </p:nvSpPr>
        <p:spPr/>
        <p:txBody>
          <a:bodyPr/>
          <a:lstStyle/>
          <a:p>
            <a:fld id="{EBA51C59-CB54-4AD1-81AD-8559FA19FC36}" type="slidenum">
              <a:rPr lang="en-IN" smtClean="0"/>
              <a:t>‹#›</a:t>
            </a:fld>
            <a:endParaRPr lang="en-IN"/>
          </a:p>
        </p:txBody>
      </p:sp>
    </p:spTree>
    <p:extLst>
      <p:ext uri="{BB962C8B-B14F-4D97-AF65-F5344CB8AC3E}">
        <p14:creationId xmlns:p14="http://schemas.microsoft.com/office/powerpoint/2010/main" val="311417434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7B0D16E-901B-4B08-A1E8-180E6F7E1E8E}" type="datetimeFigureOut">
              <a:rPr lang="en-IN" smtClean="0"/>
              <a:t>04-10-2025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a:xfrm>
            <a:off x="10951856" y="5867131"/>
            <a:ext cx="551167" cy="365125"/>
          </a:xfrm>
        </p:spPr>
        <p:txBody>
          <a:bodyPr/>
          <a:lstStyle/>
          <a:p>
            <a:fld id="{EBA51C59-CB54-4AD1-81AD-8559FA19FC36}" type="slidenum">
              <a:rPr lang="en-IN" smtClean="0"/>
              <a:t>‹#›</a:t>
            </a:fld>
            <a:endParaRPr lang="en-IN"/>
          </a:p>
        </p:txBody>
      </p:sp>
    </p:spTree>
    <p:extLst>
      <p:ext uri="{BB962C8B-B14F-4D97-AF65-F5344CB8AC3E}">
        <p14:creationId xmlns:p14="http://schemas.microsoft.com/office/powerpoint/2010/main" val="85982278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572279" y="2666999"/>
            <a:ext cx="8930747" cy="2110382"/>
          </a:xfrm>
        </p:spPr>
        <p:txBody>
          <a:bodyPr anchor="b"/>
          <a:lstStyle>
            <a:lvl1pPr algn="r">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2572278" y="4777381"/>
            <a:ext cx="8930748" cy="860400"/>
          </a:xfrm>
        </p:spPr>
        <p:txBody>
          <a:bodyPr anchor="t">
            <a:normAutofit/>
          </a:bodyPr>
          <a:lstStyle>
            <a:lvl1pPr marL="0" indent="0" algn="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7B0D16E-901B-4B08-A1E8-180E6F7E1E8E}" type="datetimeFigureOut">
              <a:rPr lang="en-IN" smtClean="0"/>
              <a:t>04-10-2025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EBA51C59-CB54-4AD1-81AD-8559FA19FC36}" type="slidenum">
              <a:rPr lang="en-IN" smtClean="0"/>
              <a:t>‹#›</a:t>
            </a:fld>
            <a:endParaRPr lang="en-IN"/>
          </a:p>
        </p:txBody>
      </p:sp>
    </p:spTree>
    <p:extLst>
      <p:ext uri="{BB962C8B-B14F-4D97-AF65-F5344CB8AC3E}">
        <p14:creationId xmlns:p14="http://schemas.microsoft.com/office/powerpoint/2010/main" val="184832522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1484311" y="685800"/>
            <a:ext cx="10018713" cy="1752599"/>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484312" y="2666999"/>
            <a:ext cx="4895055" cy="3124201"/>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607967" y="2667000"/>
            <a:ext cx="4895056" cy="3124200"/>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27B0D16E-901B-4B08-A1E8-180E6F7E1E8E}" type="datetimeFigureOut">
              <a:rPr lang="en-IN" smtClean="0"/>
              <a:t>04-10-2025</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EBA51C59-CB54-4AD1-81AD-8559FA19FC36}" type="slidenum">
              <a:rPr lang="en-IN" smtClean="0"/>
              <a:t>‹#›</a:t>
            </a:fld>
            <a:endParaRPr lang="en-IN"/>
          </a:p>
        </p:txBody>
      </p:sp>
    </p:spTree>
    <p:extLst>
      <p:ext uri="{BB962C8B-B14F-4D97-AF65-F5344CB8AC3E}">
        <p14:creationId xmlns:p14="http://schemas.microsoft.com/office/powerpoint/2010/main" val="384925335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1772179" y="2658533"/>
            <a:ext cx="4607188" cy="576262"/>
          </a:xfrm>
        </p:spPr>
        <p:txBody>
          <a:bodyPr anchor="b">
            <a:noAutofit/>
          </a:bodyPr>
          <a:lstStyle>
            <a:lvl1pPr marL="0" indent="0">
              <a:buNone/>
              <a:defRPr sz="2800" b="0">
                <a:solidFill>
                  <a:schemeClr val="accent1">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484311" y="3335337"/>
            <a:ext cx="4895056" cy="2455862"/>
          </a:xfrm>
        </p:spPr>
        <p:txBody>
          <a:bodyPr anchor="t">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880487" y="2667000"/>
            <a:ext cx="4622537" cy="576262"/>
          </a:xfrm>
        </p:spPr>
        <p:txBody>
          <a:bodyPr anchor="b">
            <a:noAutofit/>
          </a:bodyPr>
          <a:lstStyle>
            <a:lvl1pPr marL="0" indent="0">
              <a:buNone/>
              <a:defRPr sz="2800" b="0">
                <a:solidFill>
                  <a:schemeClr val="accent1">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607967" y="3335337"/>
            <a:ext cx="4895056" cy="2455862"/>
          </a:xfrm>
        </p:spPr>
        <p:txBody>
          <a:bodyPr anchor="t">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27B0D16E-901B-4B08-A1E8-180E6F7E1E8E}" type="datetimeFigureOut">
              <a:rPr lang="en-IN" smtClean="0"/>
              <a:t>04-10-2025</a:t>
            </a:fld>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fld id="{EBA51C59-CB54-4AD1-81AD-8559FA19FC36}" type="slidenum">
              <a:rPr lang="en-IN" smtClean="0"/>
              <a:t>‹#›</a:t>
            </a:fld>
            <a:endParaRPr lang="en-IN"/>
          </a:p>
        </p:txBody>
      </p:sp>
    </p:spTree>
    <p:extLst>
      <p:ext uri="{BB962C8B-B14F-4D97-AF65-F5344CB8AC3E}">
        <p14:creationId xmlns:p14="http://schemas.microsoft.com/office/powerpoint/2010/main" val="111543915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27B0D16E-901B-4B08-A1E8-180E6F7E1E8E}" type="datetimeFigureOut">
              <a:rPr lang="en-IN" smtClean="0"/>
              <a:t>04-10-2025</a:t>
            </a:fld>
            <a:endParaRPr lang="en-IN"/>
          </a:p>
        </p:txBody>
      </p:sp>
      <p:sp>
        <p:nvSpPr>
          <p:cNvPr id="4" name="Footer Placeholder 3"/>
          <p:cNvSpPr>
            <a:spLocks noGrp="1"/>
          </p:cNvSpPr>
          <p:nvPr>
            <p:ph type="ftr" sz="quarter" idx="11"/>
          </p:nvPr>
        </p:nvSpPr>
        <p:spPr/>
        <p:txBody>
          <a:bodyPr/>
          <a:lstStyle/>
          <a:p>
            <a:endParaRPr lang="en-IN"/>
          </a:p>
        </p:txBody>
      </p:sp>
      <p:sp>
        <p:nvSpPr>
          <p:cNvPr id="5" name="Slide Number Placeholder 4"/>
          <p:cNvSpPr>
            <a:spLocks noGrp="1"/>
          </p:cNvSpPr>
          <p:nvPr>
            <p:ph type="sldNum" sz="quarter" idx="12"/>
          </p:nvPr>
        </p:nvSpPr>
        <p:spPr/>
        <p:txBody>
          <a:bodyPr/>
          <a:lstStyle/>
          <a:p>
            <a:fld id="{EBA51C59-CB54-4AD1-81AD-8559FA19FC36}" type="slidenum">
              <a:rPr lang="en-IN" smtClean="0"/>
              <a:t>‹#›</a:t>
            </a:fld>
            <a:endParaRPr lang="en-IN"/>
          </a:p>
        </p:txBody>
      </p:sp>
    </p:spTree>
    <p:extLst>
      <p:ext uri="{BB962C8B-B14F-4D97-AF65-F5344CB8AC3E}">
        <p14:creationId xmlns:p14="http://schemas.microsoft.com/office/powerpoint/2010/main" val="196548347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7B0D16E-901B-4B08-A1E8-180E6F7E1E8E}" type="datetimeFigureOut">
              <a:rPr lang="en-IN" smtClean="0"/>
              <a:t>04-10-2025</a:t>
            </a:fld>
            <a:endParaRPr lang="en-IN"/>
          </a:p>
        </p:txBody>
      </p:sp>
      <p:sp>
        <p:nvSpPr>
          <p:cNvPr id="3" name="Footer Placeholder 2"/>
          <p:cNvSpPr>
            <a:spLocks noGrp="1"/>
          </p:cNvSpPr>
          <p:nvPr>
            <p:ph type="ftr" sz="quarter" idx="11"/>
          </p:nvPr>
        </p:nvSpPr>
        <p:spPr/>
        <p:txBody>
          <a:bodyPr/>
          <a:lstStyle/>
          <a:p>
            <a:endParaRPr lang="en-IN"/>
          </a:p>
        </p:txBody>
      </p:sp>
      <p:sp>
        <p:nvSpPr>
          <p:cNvPr id="4" name="Slide Number Placeholder 3"/>
          <p:cNvSpPr>
            <a:spLocks noGrp="1"/>
          </p:cNvSpPr>
          <p:nvPr>
            <p:ph type="sldNum" sz="quarter" idx="12"/>
          </p:nvPr>
        </p:nvSpPr>
        <p:spPr/>
        <p:txBody>
          <a:bodyPr/>
          <a:lstStyle/>
          <a:p>
            <a:fld id="{EBA51C59-CB54-4AD1-81AD-8559FA19FC36}" type="slidenum">
              <a:rPr lang="en-IN" smtClean="0"/>
              <a:t>‹#›</a:t>
            </a:fld>
            <a:endParaRPr lang="en-IN"/>
          </a:p>
        </p:txBody>
      </p:sp>
    </p:spTree>
    <p:extLst>
      <p:ext uri="{BB962C8B-B14F-4D97-AF65-F5344CB8AC3E}">
        <p14:creationId xmlns:p14="http://schemas.microsoft.com/office/powerpoint/2010/main" val="22523515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84312" y="1600200"/>
            <a:ext cx="3549121" cy="1371600"/>
          </a:xfrm>
        </p:spPr>
        <p:txBody>
          <a:bodyPr anchor="b">
            <a:normAutofit/>
          </a:bodyPr>
          <a:lstStyle>
            <a:lvl1pPr algn="ctr">
              <a:defRPr sz="2400" b="0"/>
            </a:lvl1pPr>
          </a:lstStyle>
          <a:p>
            <a:r>
              <a:rPr lang="en-US"/>
              <a:t>Click to edit Master title style</a:t>
            </a:r>
            <a:endParaRPr lang="en-US" dirty="0"/>
          </a:p>
        </p:txBody>
      </p:sp>
      <p:sp>
        <p:nvSpPr>
          <p:cNvPr id="3" name="Content Placeholder 2"/>
          <p:cNvSpPr>
            <a:spLocks noGrp="1"/>
          </p:cNvSpPr>
          <p:nvPr>
            <p:ph idx="1"/>
          </p:nvPr>
        </p:nvSpPr>
        <p:spPr>
          <a:xfrm>
            <a:off x="5262033" y="685799"/>
            <a:ext cx="6240990" cy="5105401"/>
          </a:xfrm>
        </p:spPr>
        <p:txBody>
          <a:bodyPr anchor="ctr">
            <a:normAutofit/>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484312" y="2971800"/>
            <a:ext cx="3549121" cy="1828800"/>
          </a:xfrm>
        </p:spPr>
        <p:txBody>
          <a:bodyPr>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27B0D16E-901B-4B08-A1E8-180E6F7E1E8E}" type="datetimeFigureOut">
              <a:rPr lang="en-IN" smtClean="0"/>
              <a:t>04-10-2025</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EBA51C59-CB54-4AD1-81AD-8559FA19FC36}" type="slidenum">
              <a:rPr lang="en-IN" smtClean="0"/>
              <a:t>‹#›</a:t>
            </a:fld>
            <a:endParaRPr lang="en-IN"/>
          </a:p>
        </p:txBody>
      </p:sp>
    </p:spTree>
    <p:extLst>
      <p:ext uri="{BB962C8B-B14F-4D97-AF65-F5344CB8AC3E}">
        <p14:creationId xmlns:p14="http://schemas.microsoft.com/office/powerpoint/2010/main" val="20779828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82724" y="1752599"/>
            <a:ext cx="5426158" cy="1371600"/>
          </a:xfrm>
        </p:spPr>
        <p:txBody>
          <a:bodyPr anchor="b">
            <a:normAutofit/>
          </a:bodyPr>
          <a:lstStyle>
            <a:lvl1pPr algn="ctr">
              <a:defRPr sz="2800" b="0"/>
            </a:lvl1pPr>
          </a:lstStyle>
          <a:p>
            <a:r>
              <a:rPr lang="en-US"/>
              <a:t>Click to edit Master title style</a:t>
            </a:r>
            <a:endParaRPr lang="en-US" dirty="0"/>
          </a:p>
        </p:txBody>
      </p:sp>
      <p:sp>
        <p:nvSpPr>
          <p:cNvPr id="14" name="Picture Placeholder 2"/>
          <p:cNvSpPr>
            <a:spLocks noGrp="1" noChangeAspect="1"/>
          </p:cNvSpPr>
          <p:nvPr>
            <p:ph type="pic" idx="1"/>
          </p:nvPr>
        </p:nvSpPr>
        <p:spPr>
          <a:xfrm>
            <a:off x="7594682" y="914400"/>
            <a:ext cx="3280974" cy="4572000"/>
          </a:xfrm>
          <a:prstGeom prst="roundRect">
            <a:avLst>
              <a:gd name="adj" fmla="val 4280"/>
            </a:avLst>
          </a:prstGeom>
          <a:ln w="38100">
            <a:gradFill flip="none" rotWithShape="1">
              <a:gsLst>
                <a:gs pos="0">
                  <a:schemeClr val="bg2"/>
                </a:gs>
                <a:gs pos="100000">
                  <a:schemeClr val="bg2">
                    <a:lumMod val="75000"/>
                  </a:schemeClr>
                </a:gs>
              </a:gsLst>
              <a:lin ang="5400000" scaled="0"/>
              <a:tileRect/>
            </a:gradFill>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1482724" y="3124199"/>
            <a:ext cx="5426158" cy="1828800"/>
          </a:xfrm>
        </p:spPr>
        <p:txBody>
          <a:bodyPr>
            <a:normAutofit/>
          </a:bodyPr>
          <a:lstStyle>
            <a:lvl1pPr marL="0" indent="0" algn="ctr">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27B0D16E-901B-4B08-A1E8-180E6F7E1E8E}" type="datetimeFigureOut">
              <a:rPr lang="en-IN" smtClean="0"/>
              <a:t>04-10-2025</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EBA51C59-CB54-4AD1-81AD-8559FA19FC36}" type="slidenum">
              <a:rPr lang="en-IN" smtClean="0"/>
              <a:t>‹#›</a:t>
            </a:fld>
            <a:endParaRPr lang="en-IN"/>
          </a:p>
        </p:txBody>
      </p:sp>
    </p:spTree>
    <p:extLst>
      <p:ext uri="{BB962C8B-B14F-4D97-AF65-F5344CB8AC3E}">
        <p14:creationId xmlns:p14="http://schemas.microsoft.com/office/powerpoint/2010/main" val="365650796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84311" y="4732865"/>
            <a:ext cx="10018711" cy="566738"/>
          </a:xfrm>
        </p:spPr>
        <p:txBody>
          <a:bodyPr anchor="b">
            <a:normAutofit/>
          </a:bodyPr>
          <a:lstStyle>
            <a:lvl1pPr algn="ctr">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2386012" y="932112"/>
            <a:ext cx="8225944" cy="3164976"/>
          </a:xfrm>
          <a:prstGeom prst="roundRect">
            <a:avLst>
              <a:gd name="adj" fmla="val 4380"/>
            </a:avLst>
          </a:prstGeom>
          <a:ln w="38100">
            <a:gradFill flip="none" rotWithShape="1">
              <a:gsLst>
                <a:gs pos="0">
                  <a:schemeClr val="bg2"/>
                </a:gs>
                <a:gs pos="100000">
                  <a:schemeClr val="bg2">
                    <a:lumMod val="75000"/>
                  </a:schemeClr>
                </a:gs>
              </a:gsLst>
              <a:lin ang="5400000" scaled="0"/>
              <a:tileRect/>
            </a:gradFill>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1484311" y="5299603"/>
            <a:ext cx="10018711" cy="493712"/>
          </a:xfrm>
        </p:spPr>
        <p:txBody>
          <a:bodyPr>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27B0D16E-901B-4B08-A1E8-180E6F7E1E8E}" type="datetimeFigureOut">
              <a:rPr lang="en-IN" smtClean="0"/>
              <a:t>04-10-2025</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EBA51C59-CB54-4AD1-81AD-8559FA19FC36}" type="slidenum">
              <a:rPr lang="en-IN" smtClean="0"/>
              <a:t>‹#›</a:t>
            </a:fld>
            <a:endParaRPr lang="en-IN"/>
          </a:p>
        </p:txBody>
      </p:sp>
    </p:spTree>
    <p:extLst>
      <p:ext uri="{BB962C8B-B14F-4D97-AF65-F5344CB8AC3E}">
        <p14:creationId xmlns:p14="http://schemas.microsoft.com/office/powerpoint/2010/main" val="120291843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484312" y="685800"/>
            <a:ext cx="10018711" cy="3048000"/>
          </a:xfrm>
        </p:spPr>
        <p:txBody>
          <a:bodyPr anchor="ctr">
            <a:normAutofit/>
          </a:bodyPr>
          <a:lstStyle>
            <a:lvl1pPr algn="ctr">
              <a:defRPr sz="3200" b="0" cap="none"/>
            </a:lvl1pPr>
          </a:lstStyle>
          <a:p>
            <a:r>
              <a:rPr lang="en-US"/>
              <a:t>Click to edit Master title style</a:t>
            </a:r>
            <a:endParaRPr lang="en-US" dirty="0"/>
          </a:p>
        </p:txBody>
      </p:sp>
      <p:sp>
        <p:nvSpPr>
          <p:cNvPr id="3" name="Text Placeholder 2"/>
          <p:cNvSpPr>
            <a:spLocks noGrp="1"/>
          </p:cNvSpPr>
          <p:nvPr>
            <p:ph type="body" idx="1"/>
          </p:nvPr>
        </p:nvSpPr>
        <p:spPr>
          <a:xfrm>
            <a:off x="1484312" y="4343400"/>
            <a:ext cx="10018713" cy="1447800"/>
          </a:xfrm>
        </p:spPr>
        <p:txBody>
          <a:bodyPr anchor="ctr">
            <a:normAutofit/>
          </a:bodyPr>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7B0D16E-901B-4B08-A1E8-180E6F7E1E8E}" type="datetimeFigureOut">
              <a:rPr lang="en-IN" smtClean="0"/>
              <a:t>04-10-2025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EBA51C59-CB54-4AD1-81AD-8559FA19FC36}" type="slidenum">
              <a:rPr lang="en-IN" smtClean="0"/>
              <a:t>‹#›</a:t>
            </a:fld>
            <a:endParaRPr lang="en-IN"/>
          </a:p>
        </p:txBody>
      </p:sp>
    </p:spTree>
    <p:extLst>
      <p:ext uri="{BB962C8B-B14F-4D97-AF65-F5344CB8AC3E}">
        <p14:creationId xmlns:p14="http://schemas.microsoft.com/office/powerpoint/2010/main" val="44912561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14" name="TextBox 13"/>
          <p:cNvSpPr txBox="1"/>
          <p:nvPr/>
        </p:nvSpPr>
        <p:spPr>
          <a:xfrm>
            <a:off x="1598612" y="863023"/>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dirty="0">
                <a:solidFill>
                  <a:schemeClr val="tx1"/>
                </a:solidFill>
                <a:effectLst/>
              </a:rPr>
              <a:t>“</a:t>
            </a:r>
          </a:p>
        </p:txBody>
      </p:sp>
      <p:sp>
        <p:nvSpPr>
          <p:cNvPr id="15" name="TextBox 14"/>
          <p:cNvSpPr txBox="1"/>
          <p:nvPr/>
        </p:nvSpPr>
        <p:spPr>
          <a:xfrm>
            <a:off x="10893425" y="2819399"/>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
        <p:nvSpPr>
          <p:cNvPr id="2" name="Title 1"/>
          <p:cNvSpPr>
            <a:spLocks noGrp="1"/>
          </p:cNvSpPr>
          <p:nvPr>
            <p:ph type="title"/>
          </p:nvPr>
        </p:nvSpPr>
        <p:spPr>
          <a:xfrm>
            <a:off x="2208212" y="685800"/>
            <a:ext cx="8990012" cy="2743199"/>
          </a:xfrm>
        </p:spPr>
        <p:txBody>
          <a:bodyPr anchor="ctr">
            <a:normAutofit/>
          </a:bodyPr>
          <a:lstStyle>
            <a:lvl1pPr algn="ctr">
              <a:defRPr sz="3200" b="0" cap="none">
                <a:solidFill>
                  <a:schemeClr val="tx1"/>
                </a:solidFill>
              </a:defRPr>
            </a:lvl1pPr>
          </a:lstStyle>
          <a:p>
            <a:r>
              <a:rPr lang="en-US"/>
              <a:t>Click to edit Master title style</a:t>
            </a:r>
            <a:endParaRPr lang="en-US" dirty="0"/>
          </a:p>
        </p:txBody>
      </p:sp>
      <p:sp>
        <p:nvSpPr>
          <p:cNvPr id="10" name="Text Placeholder 9"/>
          <p:cNvSpPr>
            <a:spLocks noGrp="1"/>
          </p:cNvSpPr>
          <p:nvPr>
            <p:ph type="body" sz="quarter" idx="13"/>
          </p:nvPr>
        </p:nvSpPr>
        <p:spPr>
          <a:xfrm>
            <a:off x="2436811" y="3428999"/>
            <a:ext cx="8532815" cy="381000"/>
          </a:xfrm>
        </p:spPr>
        <p:txBody>
          <a:bodyPr anchor="ctr">
            <a:normAutofit/>
          </a:bodyPr>
          <a:lstStyle>
            <a:lvl1pPr marL="0" indent="0">
              <a:buFontTx/>
              <a:buNone/>
              <a:defRPr sz="1800"/>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1484311" y="4343400"/>
            <a:ext cx="10018711" cy="1447800"/>
          </a:xfrm>
        </p:spPr>
        <p:txBody>
          <a:bodyPr anchor="ctr">
            <a:normAutofit/>
          </a:bodyPr>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7B0D16E-901B-4B08-A1E8-180E6F7E1E8E}" type="datetimeFigureOut">
              <a:rPr lang="en-IN" smtClean="0"/>
              <a:t>04-10-2025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EBA51C59-CB54-4AD1-81AD-8559FA19FC36}" type="slidenum">
              <a:rPr lang="en-IN" smtClean="0"/>
              <a:t>‹#›</a:t>
            </a:fld>
            <a:endParaRPr lang="en-IN"/>
          </a:p>
        </p:txBody>
      </p:sp>
    </p:spTree>
    <p:extLst>
      <p:ext uri="{BB962C8B-B14F-4D97-AF65-F5344CB8AC3E}">
        <p14:creationId xmlns:p14="http://schemas.microsoft.com/office/powerpoint/2010/main" val="294242594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484313" y="3308581"/>
            <a:ext cx="10018709" cy="1468800"/>
          </a:xfrm>
        </p:spPr>
        <p:txBody>
          <a:bodyPr anchor="b">
            <a:normAutofit/>
          </a:bodyPr>
          <a:lstStyle>
            <a:lvl1pPr algn="r">
              <a:defRPr sz="3200" b="0" cap="none"/>
            </a:lvl1pPr>
          </a:lstStyle>
          <a:p>
            <a:r>
              <a:rPr lang="en-US"/>
              <a:t>Click to edit Master title style</a:t>
            </a:r>
            <a:endParaRPr lang="en-US" dirty="0"/>
          </a:p>
        </p:txBody>
      </p:sp>
      <p:sp>
        <p:nvSpPr>
          <p:cNvPr id="3" name="Text Placeholder 2"/>
          <p:cNvSpPr>
            <a:spLocks noGrp="1"/>
          </p:cNvSpPr>
          <p:nvPr>
            <p:ph type="body" idx="1"/>
          </p:nvPr>
        </p:nvSpPr>
        <p:spPr>
          <a:xfrm>
            <a:off x="1484312" y="4777381"/>
            <a:ext cx="10018710" cy="860400"/>
          </a:xfrm>
        </p:spPr>
        <p:txBody>
          <a:bodyPr anchor="t">
            <a:normAutofit/>
          </a:bodyPr>
          <a:lstStyle>
            <a:lvl1pPr marL="0" indent="0" algn="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7B0D16E-901B-4B08-A1E8-180E6F7E1E8E}" type="datetimeFigureOut">
              <a:rPr lang="en-IN" smtClean="0"/>
              <a:t>04-10-2025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EBA51C59-CB54-4AD1-81AD-8559FA19FC36}" type="slidenum">
              <a:rPr lang="en-IN" smtClean="0"/>
              <a:t>‹#›</a:t>
            </a:fld>
            <a:endParaRPr lang="en-IN"/>
          </a:p>
        </p:txBody>
      </p:sp>
    </p:spTree>
    <p:extLst>
      <p:ext uri="{BB962C8B-B14F-4D97-AF65-F5344CB8AC3E}">
        <p14:creationId xmlns:p14="http://schemas.microsoft.com/office/powerpoint/2010/main" val="374402704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14" name="TextBox 13"/>
          <p:cNvSpPr txBox="1"/>
          <p:nvPr/>
        </p:nvSpPr>
        <p:spPr>
          <a:xfrm>
            <a:off x="1598612" y="863023"/>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dirty="0">
                <a:solidFill>
                  <a:schemeClr val="tx1"/>
                </a:solidFill>
                <a:effectLst/>
              </a:rPr>
              <a:t>“</a:t>
            </a:r>
          </a:p>
        </p:txBody>
      </p:sp>
      <p:sp>
        <p:nvSpPr>
          <p:cNvPr id="15" name="TextBox 14"/>
          <p:cNvSpPr txBox="1"/>
          <p:nvPr/>
        </p:nvSpPr>
        <p:spPr>
          <a:xfrm>
            <a:off x="10893425" y="2819399"/>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
        <p:nvSpPr>
          <p:cNvPr id="2" name="Title 1"/>
          <p:cNvSpPr>
            <a:spLocks noGrp="1"/>
          </p:cNvSpPr>
          <p:nvPr>
            <p:ph type="title"/>
          </p:nvPr>
        </p:nvSpPr>
        <p:spPr>
          <a:xfrm>
            <a:off x="2208212" y="685800"/>
            <a:ext cx="8990012" cy="2743199"/>
          </a:xfrm>
        </p:spPr>
        <p:txBody>
          <a:bodyPr anchor="ctr">
            <a:normAutofit/>
          </a:bodyPr>
          <a:lstStyle>
            <a:lvl1pPr algn="ctr">
              <a:defRPr sz="3200" b="0" cap="none">
                <a:solidFill>
                  <a:schemeClr val="tx1"/>
                </a:solidFill>
              </a:defRPr>
            </a:lvl1pPr>
          </a:lstStyle>
          <a:p>
            <a:r>
              <a:rPr lang="en-US"/>
              <a:t>Click to edit Master title style</a:t>
            </a:r>
            <a:endParaRPr lang="en-US" dirty="0"/>
          </a:p>
        </p:txBody>
      </p:sp>
      <p:sp>
        <p:nvSpPr>
          <p:cNvPr id="10" name="Text Placeholder 9"/>
          <p:cNvSpPr>
            <a:spLocks noGrp="1"/>
          </p:cNvSpPr>
          <p:nvPr>
            <p:ph type="body" sz="quarter" idx="13"/>
          </p:nvPr>
        </p:nvSpPr>
        <p:spPr>
          <a:xfrm>
            <a:off x="1484313" y="3886200"/>
            <a:ext cx="10018710" cy="889000"/>
          </a:xfrm>
        </p:spPr>
        <p:txBody>
          <a:bodyPr vert="horz" lIns="91440" tIns="45720" rIns="91440" bIns="45720" rtlCol="0" anchor="b">
            <a:normAutofit/>
          </a:bodyPr>
          <a:lstStyle>
            <a:lvl1pPr algn="r">
              <a:buNone/>
              <a:defRPr lang="en-US" sz="2400" b="0" cap="none" dirty="0">
                <a:ln w="3175" cmpd="sng">
                  <a:noFill/>
                </a:ln>
                <a:solidFill>
                  <a:schemeClr val="tx1"/>
                </a:solidFill>
                <a:effectLst/>
              </a:defRPr>
            </a:lvl1pPr>
          </a:lstStyle>
          <a:p>
            <a:pPr marL="0" lvl="0">
              <a:spcBef>
                <a:spcPct val="0"/>
              </a:spcBef>
              <a:buNone/>
            </a:pPr>
            <a:r>
              <a:rPr lang="en-US"/>
              <a:t>Click to edit Master text styles</a:t>
            </a:r>
          </a:p>
        </p:txBody>
      </p:sp>
      <p:sp>
        <p:nvSpPr>
          <p:cNvPr id="3" name="Text Placeholder 2"/>
          <p:cNvSpPr>
            <a:spLocks noGrp="1"/>
          </p:cNvSpPr>
          <p:nvPr>
            <p:ph type="body" idx="1"/>
          </p:nvPr>
        </p:nvSpPr>
        <p:spPr>
          <a:xfrm>
            <a:off x="1484312" y="4775200"/>
            <a:ext cx="10018710" cy="1016000"/>
          </a:xfrm>
        </p:spPr>
        <p:txBody>
          <a:bodyPr anchor="t">
            <a:normAutofit/>
          </a:bodyPr>
          <a:lstStyle>
            <a:lvl1pPr marL="0" indent="0" algn="r">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7B0D16E-901B-4B08-A1E8-180E6F7E1E8E}" type="datetimeFigureOut">
              <a:rPr lang="en-IN" smtClean="0"/>
              <a:t>04-10-2025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EBA51C59-CB54-4AD1-81AD-8559FA19FC36}" type="slidenum">
              <a:rPr lang="en-IN" smtClean="0"/>
              <a:t>‹#›</a:t>
            </a:fld>
            <a:endParaRPr lang="en-IN"/>
          </a:p>
        </p:txBody>
      </p:sp>
    </p:spTree>
    <p:extLst>
      <p:ext uri="{BB962C8B-B14F-4D97-AF65-F5344CB8AC3E}">
        <p14:creationId xmlns:p14="http://schemas.microsoft.com/office/powerpoint/2010/main" val="412797750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1484313" y="685800"/>
            <a:ext cx="10018712" cy="2727325"/>
          </a:xfrm>
        </p:spPr>
        <p:txBody>
          <a:bodyPr vert="horz" lIns="91440" tIns="45720" rIns="91440" bIns="45720" rtlCol="0" anchor="ctr">
            <a:normAutofit/>
          </a:bodyPr>
          <a:lstStyle>
            <a:lvl1pPr>
              <a:defRPr lang="en-US" b="0" dirty="0"/>
            </a:lvl1pPr>
          </a:lstStyle>
          <a:p>
            <a:pPr marL="0" lvl="0"/>
            <a:r>
              <a:rPr lang="en-US"/>
              <a:t>Click to edit Master title style</a:t>
            </a:r>
            <a:endParaRPr lang="en-US" dirty="0"/>
          </a:p>
        </p:txBody>
      </p:sp>
      <p:sp>
        <p:nvSpPr>
          <p:cNvPr id="10" name="Text Placeholder 9"/>
          <p:cNvSpPr>
            <a:spLocks noGrp="1"/>
          </p:cNvSpPr>
          <p:nvPr>
            <p:ph type="body" sz="quarter" idx="13"/>
          </p:nvPr>
        </p:nvSpPr>
        <p:spPr>
          <a:xfrm>
            <a:off x="1484312" y="3505200"/>
            <a:ext cx="10018713" cy="838200"/>
          </a:xfrm>
        </p:spPr>
        <p:txBody>
          <a:bodyPr vert="horz" lIns="91440" tIns="45720" rIns="91440" bIns="45720" rtlCol="0" anchor="b">
            <a:normAutofit/>
          </a:bodyPr>
          <a:lstStyle>
            <a:lvl1pPr>
              <a:buNone/>
              <a:defRPr lang="en-US" sz="2800" b="0" cap="none" dirty="0">
                <a:ln w="3175" cmpd="sng">
                  <a:noFill/>
                </a:ln>
                <a:solidFill>
                  <a:schemeClr val="tx1"/>
                </a:solidFill>
                <a:effectLst/>
              </a:defRPr>
            </a:lvl1pPr>
          </a:lstStyle>
          <a:p>
            <a:pPr marL="0" lvl="0">
              <a:spcBef>
                <a:spcPct val="0"/>
              </a:spcBef>
              <a:buNone/>
            </a:pPr>
            <a:r>
              <a:rPr lang="en-US"/>
              <a:t>Click to edit Master text styles</a:t>
            </a:r>
          </a:p>
        </p:txBody>
      </p:sp>
      <p:sp>
        <p:nvSpPr>
          <p:cNvPr id="3" name="Text Placeholder 2"/>
          <p:cNvSpPr>
            <a:spLocks noGrp="1"/>
          </p:cNvSpPr>
          <p:nvPr>
            <p:ph type="body" idx="1"/>
          </p:nvPr>
        </p:nvSpPr>
        <p:spPr>
          <a:xfrm>
            <a:off x="1484311" y="4343400"/>
            <a:ext cx="10018713" cy="1447800"/>
          </a:xfrm>
        </p:spPr>
        <p:txBody>
          <a:bodyPr anchor="t">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7B0D16E-901B-4B08-A1E8-180E6F7E1E8E}" type="datetimeFigureOut">
              <a:rPr lang="en-IN" smtClean="0"/>
              <a:t>04-10-2025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EBA51C59-CB54-4AD1-81AD-8559FA19FC36}" type="slidenum">
              <a:rPr lang="en-IN" smtClean="0"/>
              <a:t>‹#›</a:t>
            </a:fld>
            <a:endParaRPr lang="en-IN"/>
          </a:p>
        </p:txBody>
      </p:sp>
    </p:spTree>
    <p:extLst>
      <p:ext uri="{BB962C8B-B14F-4D97-AF65-F5344CB8AC3E}">
        <p14:creationId xmlns:p14="http://schemas.microsoft.com/office/powerpoint/2010/main" val="19870051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ctr">
              <a:defRPr/>
            </a:lvl1p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7B0D16E-901B-4B08-A1E8-180E6F7E1E8E}" type="datetimeFigureOut">
              <a:rPr lang="en-IN" smtClean="0"/>
              <a:t>04-10-2025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EBA51C59-CB54-4AD1-81AD-8559FA19FC36}" type="slidenum">
              <a:rPr lang="en-IN" smtClean="0"/>
              <a:t>‹#›</a:t>
            </a:fld>
            <a:endParaRPr lang="en-IN"/>
          </a:p>
        </p:txBody>
      </p:sp>
    </p:spTree>
    <p:extLst>
      <p:ext uri="{BB962C8B-B14F-4D97-AF65-F5344CB8AC3E}">
        <p14:creationId xmlns:p14="http://schemas.microsoft.com/office/powerpoint/2010/main" val="257841811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732655" y="685800"/>
            <a:ext cx="1770369" cy="510540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484312" y="685800"/>
            <a:ext cx="8019742" cy="5105400"/>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7B0D16E-901B-4B08-A1E8-180E6F7E1E8E}" type="datetimeFigureOut">
              <a:rPr lang="en-IN" smtClean="0"/>
              <a:t>04-10-2025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EBA51C59-CB54-4AD1-81AD-8559FA19FC36}" type="slidenum">
              <a:rPr lang="en-IN" smtClean="0"/>
              <a:t>‹#›</a:t>
            </a:fld>
            <a:endParaRPr lang="en-IN"/>
          </a:p>
        </p:txBody>
      </p:sp>
    </p:spTree>
    <p:extLst>
      <p:ext uri="{BB962C8B-B14F-4D97-AF65-F5344CB8AC3E}">
        <p14:creationId xmlns:p14="http://schemas.microsoft.com/office/powerpoint/2010/main" val="67627249"/>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cSld name="1_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913795" y="609600"/>
            <a:ext cx="10353762" cy="3424859"/>
          </a:xfrm>
        </p:spPr>
        <p:txBody>
          <a:bodyPr anchor="ctr"/>
          <a:lstStyle>
            <a:lvl1pP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913795" y="4204820"/>
            <a:ext cx="10353761" cy="1592186"/>
          </a:xfrm>
        </p:spPr>
        <p:txBody>
          <a:bodyPr anchor="ct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27B0D16E-901B-4B08-A1E8-180E6F7E1E8E}" type="datetimeFigureOut">
              <a:rPr lang="en-IN" smtClean="0"/>
              <a:t>04-10-2025</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EBA51C59-CB54-4AD1-81AD-8559FA19FC36}" type="slidenum">
              <a:rPr lang="en-IN" smtClean="0"/>
              <a:t>‹#›</a:t>
            </a:fld>
            <a:endParaRPr lang="en-IN"/>
          </a:p>
        </p:txBody>
      </p:sp>
    </p:spTree>
    <p:extLst>
      <p:ext uri="{BB962C8B-B14F-4D97-AF65-F5344CB8AC3E}">
        <p14:creationId xmlns:p14="http://schemas.microsoft.com/office/powerpoint/2010/main" val="7488564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grpSp>
        <p:nvGrpSpPr>
          <p:cNvPr id="7" name="Group 6"/>
          <p:cNvGrpSpPr/>
          <p:nvPr/>
        </p:nvGrpSpPr>
        <p:grpSpPr>
          <a:xfrm>
            <a:off x="150812" y="0"/>
            <a:ext cx="2436813" cy="6858001"/>
            <a:chOff x="1320800" y="0"/>
            <a:chExt cx="2436813" cy="6858001"/>
          </a:xfrm>
        </p:grpSpPr>
        <p:sp>
          <p:nvSpPr>
            <p:cNvPr id="8" name="Freeform 6"/>
            <p:cNvSpPr/>
            <p:nvPr/>
          </p:nvSpPr>
          <p:spPr bwMode="auto">
            <a:xfrm>
              <a:off x="1627188" y="0"/>
              <a:ext cx="1122363" cy="5329238"/>
            </a:xfrm>
            <a:custGeom>
              <a:avLst/>
              <a:gdLst/>
              <a:ahLst/>
              <a:cxnLst/>
              <a:rect l="0" t="0" r="r" b="b"/>
              <a:pathLst>
                <a:path w="707" h="3357">
                  <a:moveTo>
                    <a:pt x="0" y="3330"/>
                  </a:moveTo>
                  <a:lnTo>
                    <a:pt x="156" y="3357"/>
                  </a:lnTo>
                  <a:lnTo>
                    <a:pt x="707" y="0"/>
                  </a:lnTo>
                  <a:lnTo>
                    <a:pt x="547" y="0"/>
                  </a:lnTo>
                  <a:lnTo>
                    <a:pt x="0" y="3330"/>
                  </a:lnTo>
                  <a:close/>
                </a:path>
              </a:pathLst>
            </a:custGeom>
            <a:solidFill>
              <a:schemeClr val="accent1"/>
            </a:solidFill>
            <a:ln>
              <a:noFill/>
            </a:ln>
          </p:spPr>
        </p:sp>
        <p:sp>
          <p:nvSpPr>
            <p:cNvPr id="9" name="Freeform 7"/>
            <p:cNvSpPr/>
            <p:nvPr/>
          </p:nvSpPr>
          <p:spPr bwMode="auto">
            <a:xfrm>
              <a:off x="1320800" y="0"/>
              <a:ext cx="1117600" cy="5276850"/>
            </a:xfrm>
            <a:custGeom>
              <a:avLst/>
              <a:gdLst/>
              <a:ahLst/>
              <a:cxnLst/>
              <a:rect l="0" t="0" r="r" b="b"/>
              <a:pathLst>
                <a:path w="704" h="3324">
                  <a:moveTo>
                    <a:pt x="704" y="0"/>
                  </a:moveTo>
                  <a:lnTo>
                    <a:pt x="545" y="0"/>
                  </a:lnTo>
                  <a:lnTo>
                    <a:pt x="0" y="3300"/>
                  </a:lnTo>
                  <a:lnTo>
                    <a:pt x="157" y="3324"/>
                  </a:lnTo>
                  <a:lnTo>
                    <a:pt x="704" y="0"/>
                  </a:lnTo>
                  <a:close/>
                </a:path>
              </a:pathLst>
            </a:custGeom>
            <a:solidFill>
              <a:schemeClr val="tx1">
                <a:lumMod val="65000"/>
                <a:lumOff val="35000"/>
              </a:schemeClr>
            </a:solidFill>
            <a:ln>
              <a:noFill/>
            </a:ln>
          </p:spPr>
        </p:sp>
        <p:sp>
          <p:nvSpPr>
            <p:cNvPr id="10" name="Freeform 8"/>
            <p:cNvSpPr/>
            <p:nvPr/>
          </p:nvSpPr>
          <p:spPr bwMode="auto">
            <a:xfrm>
              <a:off x="1320800" y="5238750"/>
              <a:ext cx="1228725" cy="1619250"/>
            </a:xfrm>
            <a:custGeom>
              <a:avLst/>
              <a:gdLst/>
              <a:ahLst/>
              <a:cxnLst/>
              <a:rect l="0" t="0" r="r" b="b"/>
              <a:pathLst>
                <a:path w="774" h="1020">
                  <a:moveTo>
                    <a:pt x="0" y="0"/>
                  </a:moveTo>
                  <a:lnTo>
                    <a:pt x="740" y="1020"/>
                  </a:lnTo>
                  <a:lnTo>
                    <a:pt x="774" y="1020"/>
                  </a:lnTo>
                  <a:lnTo>
                    <a:pt x="0" y="0"/>
                  </a:lnTo>
                  <a:close/>
                </a:path>
              </a:pathLst>
            </a:custGeom>
            <a:solidFill>
              <a:schemeClr val="tx1">
                <a:lumMod val="85000"/>
                <a:lumOff val="15000"/>
              </a:schemeClr>
            </a:solidFill>
            <a:ln>
              <a:noFill/>
            </a:ln>
          </p:spPr>
        </p:sp>
        <p:sp>
          <p:nvSpPr>
            <p:cNvPr id="11" name="Freeform 9"/>
            <p:cNvSpPr/>
            <p:nvPr/>
          </p:nvSpPr>
          <p:spPr bwMode="auto">
            <a:xfrm>
              <a:off x="1627188" y="5291138"/>
              <a:ext cx="1495425" cy="1566863"/>
            </a:xfrm>
            <a:custGeom>
              <a:avLst/>
              <a:gdLst/>
              <a:ahLst/>
              <a:cxnLst/>
              <a:rect l="0" t="0" r="r" b="b"/>
              <a:pathLst>
                <a:path w="942" h="987">
                  <a:moveTo>
                    <a:pt x="0" y="0"/>
                  </a:moveTo>
                  <a:lnTo>
                    <a:pt x="909" y="987"/>
                  </a:lnTo>
                  <a:lnTo>
                    <a:pt x="942" y="987"/>
                  </a:lnTo>
                  <a:lnTo>
                    <a:pt x="0" y="0"/>
                  </a:lnTo>
                  <a:close/>
                </a:path>
              </a:pathLst>
            </a:custGeom>
            <a:solidFill>
              <a:schemeClr val="accent1">
                <a:lumMod val="50000"/>
              </a:schemeClr>
            </a:solidFill>
            <a:ln>
              <a:noFill/>
            </a:ln>
          </p:spPr>
        </p:sp>
        <p:sp>
          <p:nvSpPr>
            <p:cNvPr id="12" name="Freeform 10"/>
            <p:cNvSpPr/>
            <p:nvPr/>
          </p:nvSpPr>
          <p:spPr bwMode="auto">
            <a:xfrm>
              <a:off x="1627188" y="5286375"/>
              <a:ext cx="2130425" cy="1571625"/>
            </a:xfrm>
            <a:custGeom>
              <a:avLst/>
              <a:gdLst/>
              <a:ahLst/>
              <a:cxnLst/>
              <a:rect l="0" t="0" r="r" b="b"/>
              <a:pathLst>
                <a:path w="1342" h="990">
                  <a:moveTo>
                    <a:pt x="0" y="3"/>
                  </a:moveTo>
                  <a:lnTo>
                    <a:pt x="942" y="990"/>
                  </a:lnTo>
                  <a:lnTo>
                    <a:pt x="1342" y="990"/>
                  </a:lnTo>
                  <a:lnTo>
                    <a:pt x="156" y="27"/>
                  </a:lnTo>
                  <a:lnTo>
                    <a:pt x="0" y="0"/>
                  </a:lnTo>
                  <a:lnTo>
                    <a:pt x="0" y="3"/>
                  </a:lnTo>
                  <a:close/>
                </a:path>
              </a:pathLst>
            </a:custGeom>
            <a:solidFill>
              <a:schemeClr val="accent1">
                <a:lumMod val="75000"/>
              </a:schemeClr>
            </a:solidFill>
            <a:ln>
              <a:noFill/>
            </a:ln>
          </p:spPr>
        </p:sp>
        <p:sp>
          <p:nvSpPr>
            <p:cNvPr id="13" name="Freeform 11"/>
            <p:cNvSpPr/>
            <p:nvPr/>
          </p:nvSpPr>
          <p:spPr bwMode="auto">
            <a:xfrm>
              <a:off x="1320800" y="5238750"/>
              <a:ext cx="1695450" cy="1619250"/>
            </a:xfrm>
            <a:custGeom>
              <a:avLst/>
              <a:gdLst/>
              <a:ahLst/>
              <a:cxnLst/>
              <a:rect l="0" t="0" r="r" b="b"/>
              <a:pathLst>
                <a:path w="1068" h="1020">
                  <a:moveTo>
                    <a:pt x="1068" y="1020"/>
                  </a:moveTo>
                  <a:lnTo>
                    <a:pt x="184" y="60"/>
                  </a:lnTo>
                  <a:lnTo>
                    <a:pt x="154" y="27"/>
                  </a:lnTo>
                  <a:lnTo>
                    <a:pt x="157" y="27"/>
                  </a:lnTo>
                  <a:lnTo>
                    <a:pt x="157" y="24"/>
                  </a:lnTo>
                  <a:lnTo>
                    <a:pt x="154" y="24"/>
                  </a:lnTo>
                  <a:lnTo>
                    <a:pt x="0" y="0"/>
                  </a:lnTo>
                  <a:lnTo>
                    <a:pt x="0" y="0"/>
                  </a:lnTo>
                  <a:lnTo>
                    <a:pt x="774" y="1020"/>
                  </a:lnTo>
                  <a:lnTo>
                    <a:pt x="1068" y="1020"/>
                  </a:lnTo>
                  <a:close/>
                </a:path>
              </a:pathLst>
            </a:custGeom>
            <a:solidFill>
              <a:schemeClr val="tx1">
                <a:lumMod val="75000"/>
                <a:lumOff val="25000"/>
              </a:schemeClr>
            </a:solidFill>
            <a:ln>
              <a:noFill/>
            </a:ln>
          </p:spPr>
        </p:sp>
      </p:grpSp>
      <p:sp>
        <p:nvSpPr>
          <p:cNvPr id="2" name="Title Placeholder 1"/>
          <p:cNvSpPr>
            <a:spLocks noGrp="1"/>
          </p:cNvSpPr>
          <p:nvPr>
            <p:ph type="title"/>
          </p:nvPr>
        </p:nvSpPr>
        <p:spPr>
          <a:xfrm>
            <a:off x="1484311" y="685800"/>
            <a:ext cx="10018713" cy="1752599"/>
          </a:xfrm>
          <a:prstGeom prst="rect">
            <a:avLst/>
          </a:prstGeom>
          <a:effectLst/>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484310" y="2666999"/>
            <a:ext cx="10018713" cy="3124201"/>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9732656" y="5883275"/>
            <a:ext cx="1143000" cy="365125"/>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27B0D16E-901B-4B08-A1E8-180E6F7E1E8E}" type="datetimeFigureOut">
              <a:rPr lang="en-IN" smtClean="0"/>
              <a:t>04-10-2025</a:t>
            </a:fld>
            <a:endParaRPr lang="en-IN"/>
          </a:p>
        </p:txBody>
      </p:sp>
      <p:sp>
        <p:nvSpPr>
          <p:cNvPr id="5" name="Footer Placeholder 4"/>
          <p:cNvSpPr>
            <a:spLocks noGrp="1"/>
          </p:cNvSpPr>
          <p:nvPr>
            <p:ph type="ftr" sz="quarter" idx="3"/>
          </p:nvPr>
        </p:nvSpPr>
        <p:spPr>
          <a:xfrm>
            <a:off x="2572279" y="5883275"/>
            <a:ext cx="7084177" cy="365125"/>
          </a:xfrm>
          <a:prstGeom prst="rect">
            <a:avLst/>
          </a:prstGeom>
        </p:spPr>
        <p:txBody>
          <a:bodyPr vert="horz" lIns="91440" tIns="45720" rIns="91440" bIns="45720" rtlCol="0" anchor="ctr"/>
          <a:lstStyle>
            <a:lvl1pPr algn="l">
              <a:defRPr sz="1000" b="0" i="0">
                <a:solidFill>
                  <a:schemeClr val="tx1"/>
                </a:solidFill>
                <a:effectLst/>
                <a:latin typeface="+mn-lt"/>
              </a:defRPr>
            </a:lvl1pPr>
          </a:lstStyle>
          <a:p>
            <a:endParaRPr lang="en-IN"/>
          </a:p>
        </p:txBody>
      </p:sp>
      <p:sp>
        <p:nvSpPr>
          <p:cNvPr id="6" name="Slide Number Placeholder 5"/>
          <p:cNvSpPr>
            <a:spLocks noGrp="1"/>
          </p:cNvSpPr>
          <p:nvPr>
            <p:ph type="sldNum" sz="quarter" idx="4"/>
          </p:nvPr>
        </p:nvSpPr>
        <p:spPr>
          <a:xfrm>
            <a:off x="10951856" y="5883275"/>
            <a:ext cx="551167" cy="365125"/>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EBA51C59-CB54-4AD1-81AD-8559FA19FC36}" type="slidenum">
              <a:rPr lang="en-IN" smtClean="0"/>
              <a:t>‹#›</a:t>
            </a:fld>
            <a:endParaRPr lang="en-IN"/>
          </a:p>
        </p:txBody>
      </p:sp>
    </p:spTree>
    <p:extLst>
      <p:ext uri="{BB962C8B-B14F-4D97-AF65-F5344CB8AC3E}">
        <p14:creationId xmlns:p14="http://schemas.microsoft.com/office/powerpoint/2010/main" val="3551509249"/>
      </p:ext>
    </p:extLst>
  </p:cSld>
  <p:clrMap bg1="lt1" tx1="dk1" bg2="lt2" tx2="dk2" accent1="accent1" accent2="accent2" accent3="accent3" accent4="accent4" accent5="accent5" accent6="accent6" hlink="hlink" folHlink="folHlink"/>
  <p:sldLayoutIdLst>
    <p:sldLayoutId id="2147483964" r:id="rId1"/>
    <p:sldLayoutId id="2147483965" r:id="rId2"/>
    <p:sldLayoutId id="2147483966" r:id="rId3"/>
    <p:sldLayoutId id="2147483967" r:id="rId4"/>
    <p:sldLayoutId id="2147483968" r:id="rId5"/>
    <p:sldLayoutId id="2147483969" r:id="rId6"/>
    <p:sldLayoutId id="2147483970" r:id="rId7"/>
    <p:sldLayoutId id="2147483971" r:id="rId8"/>
    <p:sldLayoutId id="2147483972" r:id="rId9"/>
    <p:sldLayoutId id="2147483973" r:id="rId10"/>
    <p:sldLayoutId id="2147483974" r:id="rId11"/>
    <p:sldLayoutId id="2147483975" r:id="rId12"/>
    <p:sldLayoutId id="2147483976" r:id="rId13"/>
    <p:sldLayoutId id="2147483977" r:id="rId14"/>
    <p:sldLayoutId id="2147483978" r:id="rId15"/>
    <p:sldLayoutId id="2147483979" r:id="rId16"/>
    <p:sldLayoutId id="2147483980" r:id="rId17"/>
    <p:sldLayoutId id="2147483981" r:id="rId18"/>
  </p:sldLayoutIdLst>
  <p:txStyles>
    <p:titleStyle>
      <a:lvl1pPr algn="ctr" defTabSz="457200" rtl="0" eaLnBrk="1" latinLnBrk="0" hangingPunct="1">
        <a:spcBef>
          <a:spcPct val="0"/>
        </a:spcBef>
        <a:buNone/>
        <a:defRPr sz="4000" kern="1200" cap="none">
          <a:ln w="3175" cmpd="sng">
            <a:noFill/>
          </a:ln>
          <a:solidFill>
            <a:schemeClr val="tx1"/>
          </a:solidFill>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85750" indent="-285750" algn="l" defTabSz="457200" rtl="0" eaLnBrk="1" latinLnBrk="0" hangingPunct="1">
        <a:spcBef>
          <a:spcPct val="20000"/>
        </a:spcBef>
        <a:spcAft>
          <a:spcPts val="600"/>
        </a:spcAft>
        <a:buClr>
          <a:schemeClr val="accent1">
            <a:lumMod val="75000"/>
          </a:schemeClr>
        </a:buClr>
        <a:buSzPct val="145000"/>
        <a:buFont typeface="Arial"/>
        <a:buChar char="•"/>
        <a:defRPr sz="2400" kern="1200" cap="none">
          <a:solidFill>
            <a:schemeClr val="tx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lumMod val="75000"/>
          </a:schemeClr>
        </a:buClr>
        <a:buSzPct val="145000"/>
        <a:buFont typeface="Arial"/>
        <a:buChar char="•"/>
        <a:defRPr sz="2000" kern="1200" cap="none">
          <a:solidFill>
            <a:schemeClr val="tx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lumMod val="75000"/>
          </a:schemeClr>
        </a:buClr>
        <a:buSzPct val="145000"/>
        <a:buFont typeface="Arial"/>
        <a:buChar char="•"/>
        <a:defRPr sz="1800" kern="1200" cap="none">
          <a:solidFill>
            <a:schemeClr val="tx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lumMod val="75000"/>
          </a:schemeClr>
        </a:buClr>
        <a:buSzPct val="145000"/>
        <a:buFont typeface="Arial"/>
        <a:buChar char="•"/>
        <a:defRPr sz="1600" kern="1200" cap="none">
          <a:solidFill>
            <a:schemeClr val="tx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5pPr>
      <a:lvl6pPr marL="25146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6pPr>
      <a:lvl7pPr marL="29718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7pPr>
      <a:lvl8pPr marL="34290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8pPr>
      <a:lvl9pPr marL="38862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1rn22ad019.mahiboobisakattar@rnsit.ac.in" TargetMode="External"/><Relationship Id="rId2" Type="http://schemas.openxmlformats.org/officeDocument/2006/relationships/image" Target="../media/image2.png"/><Relationship Id="rId1" Type="http://schemas.openxmlformats.org/officeDocument/2006/relationships/slideLayout" Target="../slideLayouts/slideLayout18.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8.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1">
            <a:extLst>
              <a:ext uri="{FF2B5EF4-FFF2-40B4-BE49-F238E27FC236}">
                <a16:creationId xmlns:a16="http://schemas.microsoft.com/office/drawing/2014/main" id="{3F8833E7-10BF-8AD0-877D-53F8EB840E34}"/>
              </a:ext>
            </a:extLst>
          </p:cNvPr>
          <p:cNvSpPr>
            <a:spLocks noGrp="1" noChangeArrowheads="1"/>
          </p:cNvSpPr>
          <p:nvPr>
            <p:ph type="title"/>
          </p:nvPr>
        </p:nvSpPr>
        <p:spPr bwMode="auto">
          <a:xfrm>
            <a:off x="1183538" y="1566585"/>
            <a:ext cx="1038753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defTabSz="914400" eaLnBrk="0" fontAlgn="base" hangingPunct="0">
              <a:spcAft>
                <a:spcPct val="0"/>
              </a:spcAft>
            </a:pPr>
            <a:r>
              <a:rPr kumimoji="0" lang="en-US" altLang="en-US" sz="4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Integrated Data Science Solutions: Time-Series Analysis &amp; RAG Systems</a:t>
            </a:r>
          </a:p>
        </p:txBody>
      </p:sp>
      <p:pic>
        <p:nvPicPr>
          <p:cNvPr id="10" name="Picture 9">
            <a:extLst>
              <a:ext uri="{FF2B5EF4-FFF2-40B4-BE49-F238E27FC236}">
                <a16:creationId xmlns:a16="http://schemas.microsoft.com/office/drawing/2014/main" id="{FCF6D4E8-531C-9553-A39D-10BBF5958DD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127225" y="134523"/>
            <a:ext cx="1904231" cy="415053"/>
          </a:xfrm>
          <a:prstGeom prst="rect">
            <a:avLst/>
          </a:prstGeom>
        </p:spPr>
      </p:pic>
      <p:sp>
        <p:nvSpPr>
          <p:cNvPr id="13" name="TextBox 12">
            <a:extLst>
              <a:ext uri="{FF2B5EF4-FFF2-40B4-BE49-F238E27FC236}">
                <a16:creationId xmlns:a16="http://schemas.microsoft.com/office/drawing/2014/main" id="{E8D2E38B-E822-6A4C-8FB0-B07D99159DF8}"/>
              </a:ext>
            </a:extLst>
          </p:cNvPr>
          <p:cNvSpPr txBox="1"/>
          <p:nvPr/>
        </p:nvSpPr>
        <p:spPr>
          <a:xfrm>
            <a:off x="6990735" y="4828728"/>
            <a:ext cx="4971895" cy="417422"/>
          </a:xfrm>
          <a:prstGeom prst="rect">
            <a:avLst/>
          </a:prstGeom>
          <a:noFill/>
        </p:spPr>
        <p:txBody>
          <a:bodyPr wrap="square" rtlCol="0">
            <a:spAutoFit/>
          </a:bodyPr>
          <a:lstStyle/>
          <a:p>
            <a:pPr>
              <a:lnSpc>
                <a:spcPct val="150000"/>
              </a:lnSpc>
            </a:pPr>
            <a:endParaRPr lang="en-IN" sz="1600" dirty="0">
              <a:latin typeface="Times New Roman" panose="02020603050405020304" pitchFamily="18" charset="0"/>
              <a:cs typeface="Times New Roman" panose="02020603050405020304" pitchFamily="18" charset="0"/>
            </a:endParaRPr>
          </a:p>
        </p:txBody>
      </p:sp>
      <p:sp>
        <p:nvSpPr>
          <p:cNvPr id="8" name="TextBox 7">
            <a:extLst>
              <a:ext uri="{FF2B5EF4-FFF2-40B4-BE49-F238E27FC236}">
                <a16:creationId xmlns:a16="http://schemas.microsoft.com/office/drawing/2014/main" id="{6728ECE0-6B27-7364-63A9-1AD0B3953147}"/>
              </a:ext>
            </a:extLst>
          </p:cNvPr>
          <p:cNvSpPr txBox="1"/>
          <p:nvPr/>
        </p:nvSpPr>
        <p:spPr>
          <a:xfrm>
            <a:off x="6530009" y="3977405"/>
            <a:ext cx="5293473" cy="2120068"/>
          </a:xfrm>
          <a:prstGeom prst="rect">
            <a:avLst/>
          </a:prstGeom>
          <a:noFill/>
        </p:spPr>
        <p:txBody>
          <a:bodyPr wrap="square" rtlCol="0">
            <a:spAutoFit/>
          </a:bodyPr>
          <a:lstStyle/>
          <a:p>
            <a:pPr>
              <a:lnSpc>
                <a:spcPct val="150000"/>
              </a:lnSpc>
            </a:pPr>
            <a:r>
              <a:rPr lang="en-IN" dirty="0">
                <a:latin typeface="Times New Roman" panose="02020603050405020304" pitchFamily="18" charset="0"/>
                <a:cs typeface="Times New Roman" panose="02020603050405020304" pitchFamily="18" charset="0"/>
              </a:rPr>
              <a:t>Name: </a:t>
            </a:r>
            <a:r>
              <a:rPr lang="en-IN" dirty="0" err="1">
                <a:latin typeface="Times New Roman" panose="02020603050405020304" pitchFamily="18" charset="0"/>
                <a:cs typeface="Times New Roman" panose="02020603050405020304" pitchFamily="18" charset="0"/>
              </a:rPr>
              <a:t>Mahiboob</a:t>
            </a:r>
            <a:r>
              <a:rPr lang="en-IN" dirty="0">
                <a:latin typeface="Times New Roman" panose="02020603050405020304" pitchFamily="18" charset="0"/>
                <a:cs typeface="Times New Roman" panose="02020603050405020304" pitchFamily="18" charset="0"/>
              </a:rPr>
              <a:t> Isak Attar</a:t>
            </a:r>
          </a:p>
          <a:p>
            <a:pPr>
              <a:lnSpc>
                <a:spcPct val="150000"/>
              </a:lnSpc>
            </a:pPr>
            <a:r>
              <a:rPr lang="en-IN" dirty="0">
                <a:latin typeface="Times New Roman" panose="02020603050405020304" pitchFamily="18" charset="0"/>
                <a:cs typeface="Times New Roman" panose="02020603050405020304" pitchFamily="18" charset="0"/>
              </a:rPr>
              <a:t>Course: B.E-Artificial Intelligence and Data Science</a:t>
            </a:r>
          </a:p>
          <a:p>
            <a:pPr>
              <a:lnSpc>
                <a:spcPct val="150000"/>
              </a:lnSpc>
            </a:pPr>
            <a:r>
              <a:rPr lang="en-IN" dirty="0">
                <a:latin typeface="Times New Roman" panose="02020603050405020304" pitchFamily="18" charset="0"/>
                <a:cs typeface="Times New Roman" panose="02020603050405020304" pitchFamily="18" charset="0"/>
              </a:rPr>
              <a:t>Gmail: </a:t>
            </a:r>
            <a:r>
              <a:rPr lang="en-IN" dirty="0">
                <a:latin typeface="Times New Roman" panose="02020603050405020304" pitchFamily="18" charset="0"/>
                <a:cs typeface="Times New Roman" panose="02020603050405020304" pitchFamily="18" charset="0"/>
                <a:hlinkClick r:id="rId3"/>
              </a:rPr>
              <a:t>1rn22ad019.mahiboobisakattar@rnsit.ac.in</a:t>
            </a:r>
            <a:endParaRPr lang="en-IN" dirty="0">
              <a:latin typeface="Times New Roman" panose="02020603050405020304" pitchFamily="18" charset="0"/>
              <a:cs typeface="Times New Roman" panose="02020603050405020304" pitchFamily="18" charset="0"/>
            </a:endParaRPr>
          </a:p>
          <a:p>
            <a:pPr>
              <a:lnSpc>
                <a:spcPct val="150000"/>
              </a:lnSpc>
            </a:pPr>
            <a:r>
              <a:rPr lang="en-IN" dirty="0">
                <a:latin typeface="Times New Roman" panose="02020603050405020304" pitchFamily="18" charset="0"/>
                <a:cs typeface="Times New Roman" panose="02020603050405020304" pitchFamily="18" charset="0"/>
              </a:rPr>
              <a:t>Phone no: 8088944535</a:t>
            </a:r>
          </a:p>
          <a:p>
            <a:pPr>
              <a:lnSpc>
                <a:spcPct val="150000"/>
              </a:lnSpc>
            </a:pPr>
            <a:r>
              <a:rPr lang="en-IN" dirty="0">
                <a:latin typeface="Times New Roman" panose="02020603050405020304" pitchFamily="18" charset="0"/>
                <a:cs typeface="Times New Roman" panose="02020603050405020304" pitchFamily="18" charset="0"/>
              </a:rPr>
              <a:t>College: RNS Institute of Technology-</a:t>
            </a:r>
            <a:r>
              <a:rPr lang="en-IN" dirty="0" err="1">
                <a:latin typeface="Times New Roman" panose="02020603050405020304" pitchFamily="18" charset="0"/>
                <a:cs typeface="Times New Roman" panose="02020603050405020304" pitchFamily="18" charset="0"/>
              </a:rPr>
              <a:t>Banglore</a:t>
            </a:r>
            <a:endParaRPr lang="en-IN"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8526160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2C2D94F1-61D0-BDE5-F6E7-32CA1F23305B}"/>
              </a:ext>
            </a:extLst>
          </p:cNvPr>
          <p:cNvSpPr txBox="1"/>
          <p:nvPr/>
        </p:nvSpPr>
        <p:spPr>
          <a:xfrm>
            <a:off x="1523999" y="0"/>
            <a:ext cx="1465007" cy="523220"/>
          </a:xfrm>
          <a:prstGeom prst="rect">
            <a:avLst/>
          </a:prstGeom>
          <a:noFill/>
        </p:spPr>
        <p:txBody>
          <a:bodyPr wrap="square" rtlCol="0">
            <a:spAutoFit/>
          </a:bodyPr>
          <a:lstStyle/>
          <a:p>
            <a:r>
              <a:rPr lang="en-IN" sz="2800" dirty="0">
                <a:latin typeface="Times New Roman" panose="02020603050405020304" pitchFamily="18" charset="0"/>
                <a:cs typeface="Times New Roman" panose="02020603050405020304" pitchFamily="18" charset="0"/>
              </a:rPr>
              <a:t>Task 1</a:t>
            </a:r>
          </a:p>
        </p:txBody>
      </p:sp>
      <p:sp>
        <p:nvSpPr>
          <p:cNvPr id="7" name="TextBox 6">
            <a:extLst>
              <a:ext uri="{FF2B5EF4-FFF2-40B4-BE49-F238E27FC236}">
                <a16:creationId xmlns:a16="http://schemas.microsoft.com/office/drawing/2014/main" id="{FDC45FD7-308A-E32B-188F-C7FCBF28DB78}"/>
              </a:ext>
            </a:extLst>
          </p:cNvPr>
          <p:cNvSpPr txBox="1"/>
          <p:nvPr/>
        </p:nvSpPr>
        <p:spPr>
          <a:xfrm>
            <a:off x="4237703" y="523220"/>
            <a:ext cx="4297908" cy="461665"/>
          </a:xfrm>
          <a:prstGeom prst="rect">
            <a:avLst/>
          </a:prstGeom>
          <a:noFill/>
        </p:spPr>
        <p:txBody>
          <a:bodyPr wrap="none" rtlCol="0">
            <a:spAutoFit/>
          </a:bodyPr>
          <a:lstStyle/>
          <a:p>
            <a:r>
              <a:rPr lang="en-IN" sz="2400" u="sng" dirty="0">
                <a:latin typeface="Times New Roman" panose="02020603050405020304" pitchFamily="18" charset="0"/>
                <a:cs typeface="Times New Roman" panose="02020603050405020304" pitchFamily="18" charset="0"/>
              </a:rPr>
              <a:t>Project Overview and Objectives</a:t>
            </a:r>
          </a:p>
        </p:txBody>
      </p:sp>
      <p:pic>
        <p:nvPicPr>
          <p:cNvPr id="8" name="Picture 7">
            <a:extLst>
              <a:ext uri="{FF2B5EF4-FFF2-40B4-BE49-F238E27FC236}">
                <a16:creationId xmlns:a16="http://schemas.microsoft.com/office/drawing/2014/main" id="{ED3ED9F7-212F-D0E1-E74C-244713230BB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127225" y="134523"/>
            <a:ext cx="1904231" cy="415053"/>
          </a:xfrm>
          <a:prstGeom prst="rect">
            <a:avLst/>
          </a:prstGeom>
        </p:spPr>
      </p:pic>
      <p:sp>
        <p:nvSpPr>
          <p:cNvPr id="9" name="TextBox 8">
            <a:extLst>
              <a:ext uri="{FF2B5EF4-FFF2-40B4-BE49-F238E27FC236}">
                <a16:creationId xmlns:a16="http://schemas.microsoft.com/office/drawing/2014/main" id="{23667751-6395-82B9-6B88-C19291F89038}"/>
              </a:ext>
            </a:extLst>
          </p:cNvPr>
          <p:cNvSpPr txBox="1"/>
          <p:nvPr/>
        </p:nvSpPr>
        <p:spPr>
          <a:xfrm>
            <a:off x="1446282" y="3961339"/>
            <a:ext cx="10585174" cy="1289071"/>
          </a:xfrm>
          <a:prstGeom prst="rect">
            <a:avLst/>
          </a:prstGeom>
          <a:noFill/>
        </p:spPr>
        <p:txBody>
          <a:bodyPr wrap="square" rtlCol="0">
            <a:spAutoFit/>
          </a:bodyPr>
          <a:lstStyle/>
          <a:p>
            <a:pPr>
              <a:lnSpc>
                <a:spcPct val="150000"/>
              </a:lnSpc>
            </a:pPr>
            <a:r>
              <a:rPr lang="en-US" dirty="0">
                <a:latin typeface="Times New Roman" panose="02020603050405020304" pitchFamily="18" charset="0"/>
                <a:cs typeface="Times New Roman" panose="02020603050405020304" pitchFamily="18" charset="0"/>
              </a:rPr>
              <a:t>This project has two complementary parts: first, we analyze machine sensor data to extract actionable insights; second, we build an </a:t>
            </a:r>
            <a:r>
              <a:rPr lang="en-US" b="1" dirty="0">
                <a:latin typeface="Times New Roman" panose="02020603050405020304" pitchFamily="18" charset="0"/>
                <a:cs typeface="Times New Roman" panose="02020603050405020304" pitchFamily="18" charset="0"/>
              </a:rPr>
              <a:t>NLP system</a:t>
            </a:r>
            <a:r>
              <a:rPr lang="en-US" dirty="0">
                <a:latin typeface="Times New Roman" panose="02020603050405020304" pitchFamily="18" charset="0"/>
                <a:cs typeface="Times New Roman" panose="02020603050405020304" pitchFamily="18" charset="0"/>
              </a:rPr>
              <a:t> that retrieves knowledge from technical documents efficiently and reliably. The flow diagram shows how both tasks are connected in the overall solution.</a:t>
            </a:r>
            <a:endParaRPr lang="en-IN" dirty="0">
              <a:latin typeface="Times New Roman" panose="02020603050405020304" pitchFamily="18" charset="0"/>
              <a:cs typeface="Times New Roman" panose="02020603050405020304" pitchFamily="18" charset="0"/>
            </a:endParaRPr>
          </a:p>
        </p:txBody>
      </p:sp>
      <p:sp>
        <p:nvSpPr>
          <p:cNvPr id="10" name="Text Placeholder 5">
            <a:extLst>
              <a:ext uri="{FF2B5EF4-FFF2-40B4-BE49-F238E27FC236}">
                <a16:creationId xmlns:a16="http://schemas.microsoft.com/office/drawing/2014/main" id="{4016160F-17CD-6C6E-8411-B9733E4FD014}"/>
              </a:ext>
            </a:extLst>
          </p:cNvPr>
          <p:cNvSpPr>
            <a:spLocks noGrp="1"/>
          </p:cNvSpPr>
          <p:nvPr>
            <p:ph type="body" sz="half" idx="2"/>
          </p:nvPr>
        </p:nvSpPr>
        <p:spPr>
          <a:xfrm>
            <a:off x="1523999" y="1607590"/>
            <a:ext cx="10410782" cy="2104104"/>
          </a:xfrm>
        </p:spPr>
        <p:txBody>
          <a:bodyPr>
            <a:normAutofit/>
          </a:bodyPr>
          <a:lstStyle/>
          <a:p>
            <a:pPr algn="l"/>
            <a:r>
              <a:rPr lang="en-US" sz="1800" dirty="0">
                <a:latin typeface="Times New Roman" panose="02020603050405020304" pitchFamily="18" charset="0"/>
                <a:cs typeface="Times New Roman" panose="02020603050405020304" pitchFamily="18" charset="0"/>
              </a:rPr>
              <a:t>This presentation covers two key challenges in data science:</a:t>
            </a:r>
          </a:p>
          <a:p>
            <a:pPr algn="l"/>
            <a:r>
              <a:rPr lang="en-US" sz="1800" b="1" dirty="0">
                <a:latin typeface="Times New Roman" panose="02020603050405020304" pitchFamily="18" charset="0"/>
                <a:cs typeface="Times New Roman" panose="02020603050405020304" pitchFamily="18" charset="0"/>
              </a:rPr>
              <a:t>Cyclone Machine Data Analysis</a:t>
            </a:r>
            <a:r>
              <a:rPr lang="en-US" sz="1800" dirty="0">
                <a:latin typeface="Times New Roman" panose="02020603050405020304" pitchFamily="18" charset="0"/>
                <a:cs typeface="Times New Roman" panose="02020603050405020304" pitchFamily="18" charset="0"/>
              </a:rPr>
              <a:t> – Understanding machine behavior through 3 years of sensor data, detecting shutdowns, anomalies, and short-term forecasting.</a:t>
            </a:r>
          </a:p>
          <a:p>
            <a:pPr algn="l"/>
            <a:r>
              <a:rPr lang="en-US" sz="1800" b="1" dirty="0">
                <a:latin typeface="Times New Roman" panose="02020603050405020304" pitchFamily="18" charset="0"/>
                <a:cs typeface="Times New Roman" panose="02020603050405020304" pitchFamily="18" charset="0"/>
              </a:rPr>
              <a:t>RAG System Design</a:t>
            </a:r>
            <a:r>
              <a:rPr lang="en-US" sz="1800" dirty="0">
                <a:latin typeface="Times New Roman" panose="02020603050405020304" pitchFamily="18" charset="0"/>
                <a:cs typeface="Times New Roman" panose="02020603050405020304" pitchFamily="18" charset="0"/>
              </a:rPr>
              <a:t> – Designing an AI-powered document retrieval system for technical manuals, enabling fast and reliable Q&amp;A.</a:t>
            </a:r>
          </a:p>
        </p:txBody>
      </p:sp>
    </p:spTree>
    <p:extLst>
      <p:ext uri="{BB962C8B-B14F-4D97-AF65-F5344CB8AC3E}">
        <p14:creationId xmlns:p14="http://schemas.microsoft.com/office/powerpoint/2010/main" val="88647889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5910467-0D90-3EBF-E832-08F100C0C8B4}"/>
              </a:ext>
            </a:extLst>
          </p:cNvPr>
          <p:cNvSpPr txBox="1"/>
          <p:nvPr/>
        </p:nvSpPr>
        <p:spPr>
          <a:xfrm>
            <a:off x="1523999" y="0"/>
            <a:ext cx="1465007" cy="523220"/>
          </a:xfrm>
          <a:prstGeom prst="rect">
            <a:avLst/>
          </a:prstGeom>
          <a:noFill/>
        </p:spPr>
        <p:txBody>
          <a:bodyPr wrap="square" rtlCol="0">
            <a:spAutoFit/>
          </a:bodyPr>
          <a:lstStyle/>
          <a:p>
            <a:r>
              <a:rPr lang="en-IN" sz="2800" dirty="0">
                <a:latin typeface="Times New Roman" panose="02020603050405020304" pitchFamily="18" charset="0"/>
                <a:cs typeface="Times New Roman" panose="02020603050405020304" pitchFamily="18" charset="0"/>
              </a:rPr>
              <a:t>Task 1</a:t>
            </a:r>
          </a:p>
        </p:txBody>
      </p:sp>
      <p:sp>
        <p:nvSpPr>
          <p:cNvPr id="7" name="Rectangle 4">
            <a:extLst>
              <a:ext uri="{FF2B5EF4-FFF2-40B4-BE49-F238E27FC236}">
                <a16:creationId xmlns:a16="http://schemas.microsoft.com/office/drawing/2014/main" id="{7DF9FD6A-2BEB-9E37-F3E1-1D19A713C488}"/>
              </a:ext>
            </a:extLst>
          </p:cNvPr>
          <p:cNvSpPr>
            <a:spLocks noChangeArrowheads="1"/>
          </p:cNvSpPr>
          <p:nvPr/>
        </p:nvSpPr>
        <p:spPr bwMode="auto">
          <a:xfrm rot="10800000" flipV="1">
            <a:off x="1523999" y="523220"/>
            <a:ext cx="9615948" cy="58907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algn="ctr" defTabSz="914400" eaLnBrk="0" fontAlgn="base" hangingPunct="0">
              <a:lnSpc>
                <a:spcPct val="150000"/>
              </a:lnSpc>
              <a:spcBef>
                <a:spcPct val="0"/>
              </a:spcBef>
              <a:spcAft>
                <a:spcPct val="0"/>
              </a:spcAft>
            </a:pPr>
            <a:r>
              <a:rPr lang="en-IN" sz="2400" u="sng" dirty="0"/>
              <a:t>Data Preparation &amp; Exploratory Analysis</a:t>
            </a:r>
          </a:p>
        </p:txBody>
      </p:sp>
      <p:pic>
        <p:nvPicPr>
          <p:cNvPr id="8" name="Picture 7">
            <a:extLst>
              <a:ext uri="{FF2B5EF4-FFF2-40B4-BE49-F238E27FC236}">
                <a16:creationId xmlns:a16="http://schemas.microsoft.com/office/drawing/2014/main" id="{841C26AA-9E26-E28F-DADC-121FA8D5229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127225" y="134523"/>
            <a:ext cx="1904231" cy="415053"/>
          </a:xfrm>
          <a:prstGeom prst="rect">
            <a:avLst/>
          </a:prstGeom>
        </p:spPr>
      </p:pic>
      <p:sp>
        <p:nvSpPr>
          <p:cNvPr id="13" name="TextBox 12">
            <a:extLst>
              <a:ext uri="{FF2B5EF4-FFF2-40B4-BE49-F238E27FC236}">
                <a16:creationId xmlns:a16="http://schemas.microsoft.com/office/drawing/2014/main" id="{A1D92996-7A28-4509-CB86-40F0AF47F6C7}"/>
              </a:ext>
            </a:extLst>
          </p:cNvPr>
          <p:cNvSpPr txBox="1"/>
          <p:nvPr/>
        </p:nvSpPr>
        <p:spPr>
          <a:xfrm>
            <a:off x="4149213" y="5879690"/>
            <a:ext cx="184731" cy="369332"/>
          </a:xfrm>
          <a:prstGeom prst="rect">
            <a:avLst/>
          </a:prstGeom>
          <a:noFill/>
        </p:spPr>
        <p:txBody>
          <a:bodyPr wrap="none" rtlCol="0">
            <a:spAutoFit/>
          </a:bodyPr>
          <a:lstStyle/>
          <a:p>
            <a:endParaRPr lang="en-IN" dirty="0"/>
          </a:p>
        </p:txBody>
      </p:sp>
      <p:sp>
        <p:nvSpPr>
          <p:cNvPr id="16" name="Rectangle 1">
            <a:extLst>
              <a:ext uri="{FF2B5EF4-FFF2-40B4-BE49-F238E27FC236}">
                <a16:creationId xmlns:a16="http://schemas.microsoft.com/office/drawing/2014/main" id="{0F8563D8-A415-5E0B-1266-5F2568BD0101}"/>
              </a:ext>
            </a:extLst>
          </p:cNvPr>
          <p:cNvSpPr>
            <a:spLocks noChangeArrowheads="1"/>
          </p:cNvSpPr>
          <p:nvPr/>
        </p:nvSpPr>
        <p:spPr bwMode="auto">
          <a:xfrm rot="10800000" flipV="1">
            <a:off x="2256502" y="1500989"/>
            <a:ext cx="9137000" cy="461305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tabLst/>
            </a:pPr>
            <a:r>
              <a:rPr kumimoji="0" lang="en-US" altLang="en-US" sz="18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Dataset: </a:t>
            </a:r>
            <a:r>
              <a:rPr kumimoji="0" lang="en-US" altLang="en-US"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3 years of cyclone sensor data, 370,000+ records, 6 critical variables.</a:t>
            </a:r>
          </a:p>
          <a:p>
            <a:pPr marL="0" marR="0" lvl="0" indent="0" algn="l" defTabSz="914400" rtl="0" eaLnBrk="0" fontAlgn="base" latinLnBrk="0" hangingPunct="0">
              <a:lnSpc>
                <a:spcPct val="150000"/>
              </a:lnSpc>
              <a:spcBef>
                <a:spcPct val="0"/>
              </a:spcBef>
              <a:spcAft>
                <a:spcPct val="0"/>
              </a:spcAft>
              <a:buClrTx/>
              <a:buSzTx/>
              <a:tabLst/>
            </a:pPr>
            <a:r>
              <a:rPr kumimoji="0" lang="en-US" altLang="en-US" sz="18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Key Steps Taken:</a:t>
            </a:r>
          </a:p>
          <a:p>
            <a:pPr lvl="1" defTabSz="914400" eaLnBrk="0" fontAlgn="base" hangingPunct="0">
              <a:lnSpc>
                <a:spcPct val="150000"/>
              </a:lnSpc>
              <a:spcBef>
                <a:spcPct val="0"/>
              </a:spcBef>
              <a:spcAft>
                <a:spcPct val="0"/>
              </a:spcAft>
              <a:buFontTx/>
              <a:buAutoNum type="arabicPeriod"/>
            </a:pPr>
            <a:r>
              <a:rPr kumimoji="0" lang="en-US" altLang="en-US"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Handled missing timestamps and outliers.</a:t>
            </a:r>
          </a:p>
          <a:p>
            <a:pPr lvl="1" defTabSz="914400" eaLnBrk="0" fontAlgn="base" hangingPunct="0">
              <a:lnSpc>
                <a:spcPct val="150000"/>
              </a:lnSpc>
              <a:spcBef>
                <a:spcPct val="0"/>
              </a:spcBef>
              <a:spcAft>
                <a:spcPct val="0"/>
              </a:spcAft>
              <a:buFontTx/>
              <a:buAutoNum type="arabicPeriod" startAt="2"/>
            </a:pPr>
            <a:r>
              <a:rPr kumimoji="0" lang="en-US" altLang="en-US"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Detected and labeled shutdown/idle periods programmatically.</a:t>
            </a:r>
          </a:p>
          <a:p>
            <a:pPr lvl="1" defTabSz="914400" eaLnBrk="0" fontAlgn="base" hangingPunct="0">
              <a:lnSpc>
                <a:spcPct val="150000"/>
              </a:lnSpc>
              <a:spcBef>
                <a:spcPct val="0"/>
              </a:spcBef>
              <a:spcAft>
                <a:spcPct val="0"/>
              </a:spcAft>
              <a:buFontTx/>
              <a:buAutoNum type="arabicPeriod" startAt="3"/>
            </a:pPr>
            <a:r>
              <a:rPr kumimoji="0" lang="en-US" altLang="en-US"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Ensured strict 5-minute indexing for time-series consistency.</a:t>
            </a:r>
          </a:p>
          <a:p>
            <a:pPr>
              <a:lnSpc>
                <a:spcPct val="150000"/>
              </a:lnSpc>
            </a:pPr>
            <a:r>
              <a:rPr lang="en-US" b="1" dirty="0">
                <a:latin typeface="Times New Roman" panose="02020603050405020304" pitchFamily="18" charset="0"/>
                <a:cs typeface="Times New Roman" panose="02020603050405020304" pitchFamily="18" charset="0"/>
              </a:rPr>
              <a:t>Explored correlation matrix:</a:t>
            </a:r>
          </a:p>
          <a:p>
            <a:pPr marL="800100" lvl="1" indent="-342900">
              <a:lnSpc>
                <a:spcPct val="150000"/>
              </a:lnSpc>
              <a:buFont typeface="+mj-lt"/>
              <a:buAutoNum type="arabicPeriod"/>
            </a:pPr>
            <a:r>
              <a:rPr lang="en-US" dirty="0">
                <a:latin typeface="Times New Roman" panose="02020603050405020304" pitchFamily="18" charset="0"/>
                <a:cs typeface="Times New Roman" panose="02020603050405020304" pitchFamily="18" charset="0"/>
              </a:rPr>
              <a:t>Inlet &amp; outlet temperatures highly correlated</a:t>
            </a:r>
          </a:p>
          <a:p>
            <a:pPr marL="800100" lvl="1" indent="-342900">
              <a:lnSpc>
                <a:spcPct val="150000"/>
              </a:lnSpc>
              <a:buFont typeface="+mj-lt"/>
              <a:buAutoNum type="arabicPeriod"/>
            </a:pPr>
            <a:r>
              <a:rPr lang="en-US" dirty="0">
                <a:latin typeface="Times New Roman" panose="02020603050405020304" pitchFamily="18" charset="0"/>
                <a:cs typeface="Times New Roman" panose="02020603050405020304" pitchFamily="18" charset="0"/>
              </a:rPr>
              <a:t>Draft measurements moderately correlated</a:t>
            </a:r>
          </a:p>
          <a:p>
            <a:pPr>
              <a:lnSpc>
                <a:spcPct val="150000"/>
              </a:lnSpc>
            </a:pPr>
            <a:r>
              <a:rPr lang="en-US" b="1" dirty="0"/>
              <a:t>Example Insight:</a:t>
            </a:r>
            <a:endParaRPr lang="en-US" dirty="0"/>
          </a:p>
          <a:p>
            <a:pPr lvl="1">
              <a:lnSpc>
                <a:spcPct val="150000"/>
              </a:lnSpc>
            </a:pPr>
            <a:r>
              <a:rPr lang="en-US" dirty="0">
                <a:latin typeface="Times New Roman" panose="02020603050405020304" pitchFamily="18" charset="0"/>
                <a:cs typeface="Times New Roman" panose="02020603050405020304" pitchFamily="18" charset="0"/>
              </a:rPr>
              <a:t>Inlet &amp; outlet temperatures are highly correlated → changes in inlet affect outlet.</a:t>
            </a:r>
          </a:p>
          <a:p>
            <a:pPr lvl="1">
              <a:lnSpc>
                <a:spcPct val="150000"/>
              </a:lnSpc>
            </a:pPr>
            <a:r>
              <a:rPr lang="en-US" dirty="0">
                <a:latin typeface="Times New Roman" panose="02020603050405020304" pitchFamily="18" charset="0"/>
                <a:cs typeface="Times New Roman" panose="02020603050405020304" pitchFamily="18" charset="0"/>
              </a:rPr>
              <a:t>Draft measurements across sections show moderate correlation → indicates airflow patterns.</a:t>
            </a:r>
          </a:p>
        </p:txBody>
      </p:sp>
      <p:sp>
        <p:nvSpPr>
          <p:cNvPr id="23" name="TextBox 22">
            <a:extLst>
              <a:ext uri="{FF2B5EF4-FFF2-40B4-BE49-F238E27FC236}">
                <a16:creationId xmlns:a16="http://schemas.microsoft.com/office/drawing/2014/main" id="{33259838-EEFF-0F15-7B4B-2FBEEBE6A73D}"/>
              </a:ext>
            </a:extLst>
          </p:cNvPr>
          <p:cNvSpPr txBox="1"/>
          <p:nvPr/>
        </p:nvSpPr>
        <p:spPr>
          <a:xfrm rot="10541874">
            <a:off x="3387797" y="5628116"/>
            <a:ext cx="146507" cy="45719"/>
          </a:xfrm>
          <a:prstGeom prst="rect">
            <a:avLst/>
          </a:prstGeom>
          <a:noFill/>
        </p:spPr>
        <p:txBody>
          <a:bodyPr wrap="square" rtlCol="0">
            <a:spAutoFit/>
          </a:bodyPr>
          <a:lstStyle/>
          <a:p>
            <a:endParaRPr lang="en-IN" dirty="0"/>
          </a:p>
        </p:txBody>
      </p:sp>
      <p:sp>
        <p:nvSpPr>
          <p:cNvPr id="27" name="Rectangle 2">
            <a:extLst>
              <a:ext uri="{FF2B5EF4-FFF2-40B4-BE49-F238E27FC236}">
                <a16:creationId xmlns:a16="http://schemas.microsoft.com/office/drawing/2014/main" id="{45DD7793-5687-F442-F453-C046AFC1D4B8}"/>
              </a:ext>
            </a:extLst>
          </p:cNvPr>
          <p:cNvSpPr>
            <a:spLocks noChangeArrowheads="1"/>
          </p:cNvSpPr>
          <p:nvPr/>
        </p:nvSpPr>
        <p:spPr bwMode="auto">
          <a:xfrm rot="10800000" flipV="1">
            <a:off x="1366684" y="5214916"/>
            <a:ext cx="586881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just" defTabSz="914400" rtl="0" eaLnBrk="0" fontAlgn="base" latinLnBrk="0" hangingPunct="0">
              <a:spcBef>
                <a:spcPct val="0"/>
              </a:spcBef>
              <a:spcAft>
                <a:spcPct val="0"/>
              </a:spcAft>
              <a:buClrTx/>
              <a:buSzTx/>
              <a:buFontTx/>
              <a:buChar char="•"/>
              <a:tabLst/>
            </a:pPr>
            <a:endParaRPr kumimoji="0" lang="en-US" altLang="en-US" sz="180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42187773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A4021A0E-09F9-FD57-D91B-474BB11C4A3F}"/>
              </a:ext>
            </a:extLst>
          </p:cNvPr>
          <p:cNvSpPr txBox="1"/>
          <p:nvPr/>
        </p:nvSpPr>
        <p:spPr>
          <a:xfrm>
            <a:off x="1523999" y="0"/>
            <a:ext cx="1465007" cy="523220"/>
          </a:xfrm>
          <a:prstGeom prst="rect">
            <a:avLst/>
          </a:prstGeom>
          <a:noFill/>
        </p:spPr>
        <p:txBody>
          <a:bodyPr wrap="square" rtlCol="0">
            <a:spAutoFit/>
          </a:bodyPr>
          <a:lstStyle/>
          <a:p>
            <a:r>
              <a:rPr lang="en-IN" sz="2800" dirty="0">
                <a:latin typeface="Times New Roman" panose="02020603050405020304" pitchFamily="18" charset="0"/>
                <a:cs typeface="Times New Roman" panose="02020603050405020304" pitchFamily="18" charset="0"/>
              </a:rPr>
              <a:t>Task 1</a:t>
            </a:r>
          </a:p>
        </p:txBody>
      </p:sp>
      <p:pic>
        <p:nvPicPr>
          <p:cNvPr id="7" name="Picture 6">
            <a:extLst>
              <a:ext uri="{FF2B5EF4-FFF2-40B4-BE49-F238E27FC236}">
                <a16:creationId xmlns:a16="http://schemas.microsoft.com/office/drawing/2014/main" id="{ED3A18BF-5E25-D9C1-0405-E52B4B9C11A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127225" y="134523"/>
            <a:ext cx="1904231" cy="415053"/>
          </a:xfrm>
          <a:prstGeom prst="rect">
            <a:avLst/>
          </a:prstGeom>
        </p:spPr>
      </p:pic>
      <p:sp>
        <p:nvSpPr>
          <p:cNvPr id="8" name="TextBox 7">
            <a:extLst>
              <a:ext uri="{FF2B5EF4-FFF2-40B4-BE49-F238E27FC236}">
                <a16:creationId xmlns:a16="http://schemas.microsoft.com/office/drawing/2014/main" id="{0DB2E825-F758-0C10-63BC-75F65F43FB80}"/>
              </a:ext>
            </a:extLst>
          </p:cNvPr>
          <p:cNvSpPr txBox="1"/>
          <p:nvPr/>
        </p:nvSpPr>
        <p:spPr>
          <a:xfrm>
            <a:off x="2438399" y="638906"/>
            <a:ext cx="8465573" cy="461665"/>
          </a:xfrm>
          <a:prstGeom prst="rect">
            <a:avLst/>
          </a:prstGeom>
          <a:noFill/>
        </p:spPr>
        <p:txBody>
          <a:bodyPr wrap="square" rtlCol="0">
            <a:spAutoFit/>
          </a:bodyPr>
          <a:lstStyle/>
          <a:p>
            <a:r>
              <a:rPr lang="en-IN" sz="2400" u="sng" dirty="0">
                <a:latin typeface="Times New Roman" panose="02020603050405020304" pitchFamily="18" charset="0"/>
                <a:cs typeface="Times New Roman" panose="02020603050405020304" pitchFamily="18" charset="0"/>
              </a:rPr>
              <a:t>Shutdown / Idle Period Identification/Machine State Clustering</a:t>
            </a:r>
          </a:p>
        </p:txBody>
      </p:sp>
      <p:sp>
        <p:nvSpPr>
          <p:cNvPr id="13" name="Rectangle 2">
            <a:extLst>
              <a:ext uri="{FF2B5EF4-FFF2-40B4-BE49-F238E27FC236}">
                <a16:creationId xmlns:a16="http://schemas.microsoft.com/office/drawing/2014/main" id="{BE3B4F64-29DE-09EE-53B1-0FA378D98C74}"/>
              </a:ext>
            </a:extLst>
          </p:cNvPr>
          <p:cNvSpPr>
            <a:spLocks noChangeArrowheads="1"/>
          </p:cNvSpPr>
          <p:nvPr/>
        </p:nvSpPr>
        <p:spPr bwMode="auto">
          <a:xfrm rot="10800000" flipV="1">
            <a:off x="2747153" y="1508105"/>
            <a:ext cx="7649497" cy="2120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285750" marR="0" lvl="0" indent="-285750" algn="l" defTabSz="914400" rtl="0" eaLnBrk="0" fontAlgn="base" latinLnBrk="0" hangingPunct="0">
              <a:lnSpc>
                <a:spcPct val="150000"/>
              </a:lnSpc>
              <a:spcBef>
                <a:spcPct val="0"/>
              </a:spcBef>
              <a:spcAft>
                <a:spcPct val="0"/>
              </a:spcAft>
              <a:buClrTx/>
              <a:buSzTx/>
              <a:buFont typeface="Wingdings" panose="05000000000000000000" pitchFamily="2" charset="2"/>
              <a:buChar char="§"/>
              <a:tabLst/>
            </a:pPr>
            <a:r>
              <a:rPr kumimoji="0" lang="en-US" altLang="en-US"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Applied </a:t>
            </a:r>
            <a:r>
              <a:rPr kumimoji="0" lang="en-US" altLang="en-US" sz="18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K-Means clustering</a:t>
            </a:r>
            <a:r>
              <a:rPr kumimoji="0" lang="en-US" altLang="en-US"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on active data (excluding shutdowns)</a:t>
            </a:r>
          </a:p>
          <a:p>
            <a:pPr marL="285750" marR="0" lvl="0" indent="-285750" algn="l" defTabSz="914400" rtl="0" eaLnBrk="0" fontAlgn="base" latinLnBrk="0" hangingPunct="0">
              <a:lnSpc>
                <a:spcPct val="150000"/>
              </a:lnSpc>
              <a:spcBef>
                <a:spcPct val="0"/>
              </a:spcBef>
              <a:spcAft>
                <a:spcPct val="0"/>
              </a:spcAft>
              <a:buClrTx/>
              <a:buSzTx/>
              <a:buFont typeface="Wingdings" panose="05000000000000000000" pitchFamily="2" charset="2"/>
              <a:buChar char="§"/>
              <a:tabLst/>
            </a:pPr>
            <a:r>
              <a:rPr kumimoji="0" lang="en-US" altLang="en-US"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Identified operational states: Normal, Startup/Shutdown, High Load, Degraded</a:t>
            </a:r>
          </a:p>
          <a:p>
            <a:pPr marL="285750" marR="0" lvl="0" indent="-285750" algn="l" defTabSz="914400" rtl="0" eaLnBrk="0" fontAlgn="base" latinLnBrk="0" hangingPunct="0">
              <a:lnSpc>
                <a:spcPct val="150000"/>
              </a:lnSpc>
              <a:spcBef>
                <a:spcPct val="0"/>
              </a:spcBef>
              <a:spcAft>
                <a:spcPct val="0"/>
              </a:spcAft>
              <a:buClrTx/>
              <a:buSzTx/>
              <a:buFont typeface="Wingdings" panose="05000000000000000000" pitchFamily="2" charset="2"/>
              <a:buChar char="§"/>
              <a:tabLst/>
            </a:pPr>
            <a:r>
              <a:rPr kumimoji="0" lang="en-US" altLang="en-US"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Output includes cluster statistics (mean, std, occurrence frequency)</a:t>
            </a:r>
          </a:p>
          <a:p>
            <a:pPr marL="285750" marR="0" lvl="0" indent="-285750" algn="l" defTabSz="914400" rtl="0" eaLnBrk="0" fontAlgn="base" latinLnBrk="0" hangingPunct="0">
              <a:lnSpc>
                <a:spcPct val="150000"/>
              </a:lnSpc>
              <a:spcBef>
                <a:spcPct val="0"/>
              </a:spcBef>
              <a:spcAft>
                <a:spcPct val="0"/>
              </a:spcAft>
              <a:buClrTx/>
              <a:buSzTx/>
              <a:buFont typeface="Wingdings" panose="05000000000000000000" pitchFamily="2" charset="2"/>
              <a:buChar char="§"/>
              <a:tabLst/>
            </a:pPr>
            <a:r>
              <a:rPr kumimoji="0" lang="en-US" altLang="en-US"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Helps non-technical stakeholders understand operational behavior</a:t>
            </a:r>
          </a:p>
        </p:txBody>
      </p:sp>
      <p:sp>
        <p:nvSpPr>
          <p:cNvPr id="17" name="TextBox 16">
            <a:extLst>
              <a:ext uri="{FF2B5EF4-FFF2-40B4-BE49-F238E27FC236}">
                <a16:creationId xmlns:a16="http://schemas.microsoft.com/office/drawing/2014/main" id="{3AB36F02-CA34-D1FE-23E5-83B521484FF2}"/>
              </a:ext>
            </a:extLst>
          </p:cNvPr>
          <p:cNvSpPr txBox="1"/>
          <p:nvPr/>
        </p:nvSpPr>
        <p:spPr>
          <a:xfrm>
            <a:off x="1523997" y="4060825"/>
            <a:ext cx="10294375" cy="1289071"/>
          </a:xfrm>
          <a:prstGeom prst="rect">
            <a:avLst/>
          </a:prstGeom>
          <a:noFill/>
        </p:spPr>
        <p:txBody>
          <a:bodyPr wrap="square" rtlCol="0">
            <a:spAutoFit/>
          </a:bodyPr>
          <a:lstStyle/>
          <a:p>
            <a:pPr>
              <a:lnSpc>
                <a:spcPct val="150000"/>
              </a:lnSpc>
            </a:pPr>
            <a:r>
              <a:rPr lang="en-US" dirty="0">
                <a:latin typeface="Times New Roman" panose="02020603050405020304" pitchFamily="18" charset="0"/>
                <a:cs typeface="Times New Roman" panose="02020603050405020304" pitchFamily="18" charset="0"/>
              </a:rPr>
              <a:t>By clustering operational data, we could define distinct machine states. Within each state, anomalies were detected contextually, ensuring alerts are meaningful. Forecasting helps anticipate temperature changes for proactive maintenance</a:t>
            </a:r>
            <a:endParaRPr lang="en-IN"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52734488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F19506B-5DBB-9F86-5884-5058283E16FF}"/>
              </a:ext>
            </a:extLst>
          </p:cNvPr>
          <p:cNvSpPr txBox="1"/>
          <p:nvPr/>
        </p:nvSpPr>
        <p:spPr>
          <a:xfrm>
            <a:off x="2385710" y="629089"/>
            <a:ext cx="8443273" cy="523220"/>
          </a:xfrm>
          <a:prstGeom prst="rect">
            <a:avLst/>
          </a:prstGeom>
          <a:noFill/>
        </p:spPr>
        <p:txBody>
          <a:bodyPr wrap="none" rtlCol="0">
            <a:spAutoFit/>
          </a:bodyPr>
          <a:lstStyle/>
          <a:p>
            <a:r>
              <a:rPr lang="en-IN" sz="2800" u="sng" dirty="0">
                <a:latin typeface="Times New Roman" panose="02020603050405020304" pitchFamily="18" charset="0"/>
                <a:cs typeface="Times New Roman" panose="02020603050405020304" pitchFamily="18" charset="0"/>
              </a:rPr>
              <a:t>Contextual Anomaly Detection/Short-Term Forecasting </a:t>
            </a:r>
          </a:p>
        </p:txBody>
      </p:sp>
      <p:sp>
        <p:nvSpPr>
          <p:cNvPr id="3" name="TextBox 2">
            <a:extLst>
              <a:ext uri="{FF2B5EF4-FFF2-40B4-BE49-F238E27FC236}">
                <a16:creationId xmlns:a16="http://schemas.microsoft.com/office/drawing/2014/main" id="{FE9B9FEE-94C7-0C68-9EE7-05620CCED9B4}"/>
              </a:ext>
            </a:extLst>
          </p:cNvPr>
          <p:cNvSpPr txBox="1"/>
          <p:nvPr/>
        </p:nvSpPr>
        <p:spPr>
          <a:xfrm>
            <a:off x="1523999" y="0"/>
            <a:ext cx="1465007" cy="523220"/>
          </a:xfrm>
          <a:prstGeom prst="rect">
            <a:avLst/>
          </a:prstGeom>
          <a:noFill/>
        </p:spPr>
        <p:txBody>
          <a:bodyPr wrap="square" rtlCol="0">
            <a:spAutoFit/>
          </a:bodyPr>
          <a:lstStyle/>
          <a:p>
            <a:r>
              <a:rPr lang="en-IN" sz="2800" dirty="0">
                <a:latin typeface="Times New Roman" panose="02020603050405020304" pitchFamily="18" charset="0"/>
                <a:cs typeface="Times New Roman" panose="02020603050405020304" pitchFamily="18" charset="0"/>
              </a:rPr>
              <a:t>Task 1</a:t>
            </a:r>
          </a:p>
        </p:txBody>
      </p:sp>
      <p:pic>
        <p:nvPicPr>
          <p:cNvPr id="4" name="Picture 3">
            <a:extLst>
              <a:ext uri="{FF2B5EF4-FFF2-40B4-BE49-F238E27FC236}">
                <a16:creationId xmlns:a16="http://schemas.microsoft.com/office/drawing/2014/main" id="{7BCF63AA-CFF4-363C-670A-601253B5A0E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127225" y="134523"/>
            <a:ext cx="1904231" cy="415053"/>
          </a:xfrm>
          <a:prstGeom prst="rect">
            <a:avLst/>
          </a:prstGeom>
        </p:spPr>
      </p:pic>
      <p:sp>
        <p:nvSpPr>
          <p:cNvPr id="12" name="TextBox 11">
            <a:extLst>
              <a:ext uri="{FF2B5EF4-FFF2-40B4-BE49-F238E27FC236}">
                <a16:creationId xmlns:a16="http://schemas.microsoft.com/office/drawing/2014/main" id="{350B19B3-3D00-6157-AFDB-ADF10CA6463C}"/>
              </a:ext>
            </a:extLst>
          </p:cNvPr>
          <p:cNvSpPr txBox="1"/>
          <p:nvPr/>
        </p:nvSpPr>
        <p:spPr>
          <a:xfrm>
            <a:off x="2385710" y="1537969"/>
            <a:ext cx="9392385" cy="3782061"/>
          </a:xfrm>
          <a:prstGeom prst="rect">
            <a:avLst/>
          </a:prstGeom>
          <a:noFill/>
        </p:spPr>
        <p:txBody>
          <a:bodyPr wrap="square" rtlCol="0">
            <a:spAutoFit/>
          </a:bodyPr>
          <a:lstStyle/>
          <a:p>
            <a:pPr marL="285750" indent="-285750" algn="just">
              <a:lnSpc>
                <a:spcPct val="150000"/>
              </a:lnSpc>
              <a:buFont typeface="Wingdings" panose="05000000000000000000" pitchFamily="2" charset="2"/>
              <a:buChar char="§"/>
            </a:pPr>
            <a:r>
              <a:rPr lang="en-IN" dirty="0">
                <a:latin typeface="Times New Roman" panose="02020603050405020304" pitchFamily="18" charset="0"/>
                <a:cs typeface="Times New Roman" panose="02020603050405020304" pitchFamily="18" charset="0"/>
              </a:rPr>
              <a:t>Used Isolation Forest per cluster to detect anomalies</a:t>
            </a:r>
          </a:p>
          <a:p>
            <a:pPr marL="285750" indent="-285750" algn="just">
              <a:lnSpc>
                <a:spcPct val="150000"/>
              </a:lnSpc>
              <a:buFont typeface="Wingdings" panose="05000000000000000000" pitchFamily="2" charset="2"/>
              <a:buChar char="§"/>
            </a:pPr>
            <a:r>
              <a:rPr lang="en-IN" dirty="0">
                <a:latin typeface="Times New Roman" panose="02020603050405020304" pitchFamily="18" charset="0"/>
                <a:cs typeface="Times New Roman" panose="02020603050405020304" pitchFamily="18" charset="0"/>
              </a:rPr>
              <a:t>Consolidated anomalies with timestamp, sensor readings, and cluster label</a:t>
            </a:r>
          </a:p>
          <a:p>
            <a:pPr marL="285750" indent="-285750" algn="just">
              <a:lnSpc>
                <a:spcPct val="150000"/>
              </a:lnSpc>
              <a:buFont typeface="Wingdings" panose="05000000000000000000" pitchFamily="2" charset="2"/>
              <a:buChar char="§"/>
            </a:pPr>
            <a:r>
              <a:rPr lang="en-IN" dirty="0">
                <a:latin typeface="Times New Roman" panose="02020603050405020304" pitchFamily="18" charset="0"/>
                <a:cs typeface="Times New Roman" panose="02020603050405020304" pitchFamily="18" charset="0"/>
              </a:rPr>
              <a:t>Enables root cause analysis and preventive maintenance</a:t>
            </a:r>
          </a:p>
          <a:p>
            <a:pPr marL="285750" indent="-285750" algn="just">
              <a:lnSpc>
                <a:spcPct val="150000"/>
              </a:lnSpc>
              <a:buFont typeface="Wingdings" panose="05000000000000000000" pitchFamily="2" charset="2"/>
              <a:buChar char="§"/>
            </a:pPr>
            <a:r>
              <a:rPr lang="en-IN" dirty="0">
                <a:latin typeface="Times New Roman" panose="02020603050405020304" pitchFamily="18" charset="0"/>
                <a:cs typeface="Times New Roman" panose="02020603050405020304" pitchFamily="18" charset="0"/>
              </a:rPr>
              <a:t>Examples: sudden temperature drops, </a:t>
            </a:r>
          </a:p>
          <a:p>
            <a:pPr marL="285750" indent="-285750" algn="just">
              <a:lnSpc>
                <a:spcPct val="150000"/>
              </a:lnSpc>
              <a:buFont typeface="Wingdings" panose="05000000000000000000" pitchFamily="2" charset="2"/>
              <a:buChar char="§"/>
            </a:pPr>
            <a:r>
              <a:rPr lang="en-IN" dirty="0">
                <a:latin typeface="Times New Roman" panose="02020603050405020304" pitchFamily="18" charset="0"/>
                <a:cs typeface="Times New Roman" panose="02020603050405020304" pitchFamily="18" charset="0"/>
              </a:rPr>
              <a:t>Forecasted Cyclone-Inlet-Gas-Temp for the next hour (12 steps)</a:t>
            </a:r>
          </a:p>
          <a:p>
            <a:pPr marL="285750" indent="-285750" algn="just">
              <a:lnSpc>
                <a:spcPct val="150000"/>
              </a:lnSpc>
              <a:buFont typeface="Wingdings" panose="05000000000000000000" pitchFamily="2" charset="2"/>
              <a:buChar char="§"/>
            </a:pPr>
            <a:r>
              <a:rPr lang="en-IN" dirty="0">
                <a:latin typeface="Times New Roman" panose="02020603050405020304" pitchFamily="18" charset="0"/>
                <a:cs typeface="Times New Roman" panose="02020603050405020304" pitchFamily="18" charset="0"/>
              </a:rPr>
              <a:t>Models used: Persistence baseline, ARIMA (5,1,0)</a:t>
            </a:r>
          </a:p>
          <a:p>
            <a:pPr marL="285750" indent="-285750" algn="just">
              <a:lnSpc>
                <a:spcPct val="150000"/>
              </a:lnSpc>
              <a:buFont typeface="Wingdings" panose="05000000000000000000" pitchFamily="2" charset="2"/>
              <a:buChar char="§"/>
            </a:pPr>
            <a:r>
              <a:rPr lang="en-IN" dirty="0">
                <a:latin typeface="Times New Roman" panose="02020603050405020304" pitchFamily="18" charset="0"/>
                <a:cs typeface="Times New Roman" panose="02020603050405020304" pitchFamily="18" charset="0"/>
              </a:rPr>
              <a:t>Evaluated using RMSE &amp; MAE</a:t>
            </a:r>
          </a:p>
          <a:p>
            <a:pPr marL="285750" indent="-285750" algn="just">
              <a:lnSpc>
                <a:spcPct val="150000"/>
              </a:lnSpc>
              <a:buFont typeface="Wingdings" panose="05000000000000000000" pitchFamily="2" charset="2"/>
              <a:buChar char="§"/>
            </a:pPr>
            <a:r>
              <a:rPr lang="en-IN" dirty="0">
                <a:latin typeface="Times New Roman" panose="02020603050405020304" pitchFamily="18" charset="0"/>
                <a:cs typeface="Times New Roman" panose="02020603050405020304" pitchFamily="18" charset="0"/>
              </a:rPr>
              <a:t>Forecasts assist in short-term operational planning</a:t>
            </a:r>
          </a:p>
          <a:p>
            <a:pPr marL="285750" indent="-285750" algn="just">
              <a:lnSpc>
                <a:spcPct val="150000"/>
              </a:lnSpc>
              <a:buFont typeface="Wingdings" panose="05000000000000000000" pitchFamily="2" charset="2"/>
              <a:buChar char="§"/>
            </a:pPr>
            <a:endParaRPr lang="en-IN"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6190174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2DCAEE6-5544-86F1-ABDC-2BEFC2442B20}"/>
              </a:ext>
            </a:extLst>
          </p:cNvPr>
          <p:cNvSpPr txBox="1"/>
          <p:nvPr/>
        </p:nvSpPr>
        <p:spPr>
          <a:xfrm>
            <a:off x="1523999" y="0"/>
            <a:ext cx="1465007" cy="523220"/>
          </a:xfrm>
          <a:prstGeom prst="rect">
            <a:avLst/>
          </a:prstGeom>
          <a:noFill/>
        </p:spPr>
        <p:txBody>
          <a:bodyPr wrap="square" rtlCol="0">
            <a:spAutoFit/>
          </a:bodyPr>
          <a:lstStyle/>
          <a:p>
            <a:r>
              <a:rPr lang="en-IN" sz="2800" dirty="0">
                <a:latin typeface="Times New Roman" panose="02020603050405020304" pitchFamily="18" charset="0"/>
                <a:cs typeface="Times New Roman" panose="02020603050405020304" pitchFamily="18" charset="0"/>
              </a:rPr>
              <a:t>Task 1</a:t>
            </a:r>
          </a:p>
        </p:txBody>
      </p:sp>
      <p:pic>
        <p:nvPicPr>
          <p:cNvPr id="3" name="Picture 2">
            <a:extLst>
              <a:ext uri="{FF2B5EF4-FFF2-40B4-BE49-F238E27FC236}">
                <a16:creationId xmlns:a16="http://schemas.microsoft.com/office/drawing/2014/main" id="{3242B7F0-E510-60C0-CD9D-6080AE9C626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127225" y="134523"/>
            <a:ext cx="1904231" cy="415053"/>
          </a:xfrm>
          <a:prstGeom prst="rect">
            <a:avLst/>
          </a:prstGeom>
        </p:spPr>
      </p:pic>
      <p:sp>
        <p:nvSpPr>
          <p:cNvPr id="4" name="TextBox 3">
            <a:extLst>
              <a:ext uri="{FF2B5EF4-FFF2-40B4-BE49-F238E27FC236}">
                <a16:creationId xmlns:a16="http://schemas.microsoft.com/office/drawing/2014/main" id="{8FEA92AE-DCA0-4046-489D-9C69201455D5}"/>
              </a:ext>
            </a:extLst>
          </p:cNvPr>
          <p:cNvSpPr txBox="1"/>
          <p:nvPr/>
        </p:nvSpPr>
        <p:spPr>
          <a:xfrm>
            <a:off x="4206029" y="523220"/>
            <a:ext cx="4704173" cy="461665"/>
          </a:xfrm>
          <a:prstGeom prst="rect">
            <a:avLst/>
          </a:prstGeom>
          <a:noFill/>
        </p:spPr>
        <p:txBody>
          <a:bodyPr wrap="none" rtlCol="0">
            <a:spAutoFit/>
          </a:bodyPr>
          <a:lstStyle/>
          <a:p>
            <a:r>
              <a:rPr lang="en-IN" sz="2400" u="sng" dirty="0">
                <a:latin typeface="Times New Roman" panose="02020603050405020304" pitchFamily="18" charset="0"/>
                <a:cs typeface="Times New Roman" panose="02020603050405020304" pitchFamily="18" charset="0"/>
              </a:rPr>
              <a:t>RAG System Architecture Overview</a:t>
            </a:r>
          </a:p>
        </p:txBody>
      </p:sp>
      <p:sp>
        <p:nvSpPr>
          <p:cNvPr id="5" name="TextBox 4">
            <a:extLst>
              <a:ext uri="{FF2B5EF4-FFF2-40B4-BE49-F238E27FC236}">
                <a16:creationId xmlns:a16="http://schemas.microsoft.com/office/drawing/2014/main" id="{75C63F8B-3637-694C-C745-E3D8C1F198AC}"/>
              </a:ext>
            </a:extLst>
          </p:cNvPr>
          <p:cNvSpPr txBox="1"/>
          <p:nvPr/>
        </p:nvSpPr>
        <p:spPr>
          <a:xfrm>
            <a:off x="2445346" y="1302025"/>
            <a:ext cx="8824788" cy="3366563"/>
          </a:xfrm>
          <a:prstGeom prst="rect">
            <a:avLst/>
          </a:prstGeom>
          <a:noFill/>
        </p:spPr>
        <p:txBody>
          <a:bodyPr wrap="none" rtlCol="0">
            <a:spAutoFit/>
          </a:bodyPr>
          <a:lstStyle/>
          <a:p>
            <a:pPr marL="285750" indent="-285750">
              <a:lnSpc>
                <a:spcPct val="150000"/>
              </a:lnSpc>
              <a:buFont typeface="Wingdings" panose="05000000000000000000" pitchFamily="2" charset="2"/>
              <a:buChar char="§"/>
            </a:pPr>
            <a:r>
              <a:rPr lang="en-IN" dirty="0">
                <a:latin typeface="Times New Roman" panose="02020603050405020304" pitchFamily="18" charset="0"/>
                <a:cs typeface="Times New Roman" panose="02020603050405020304" pitchFamily="18" charset="0"/>
              </a:rPr>
              <a:t>Document ingestion via extraction of text from PDF manuals and SOPs</a:t>
            </a:r>
          </a:p>
          <a:p>
            <a:pPr marL="285750" indent="-285750">
              <a:lnSpc>
                <a:spcPct val="150000"/>
              </a:lnSpc>
              <a:buFont typeface="Wingdings" panose="05000000000000000000" pitchFamily="2" charset="2"/>
              <a:buChar char="§"/>
            </a:pPr>
            <a:r>
              <a:rPr lang="en-IN" dirty="0">
                <a:latin typeface="Times New Roman" panose="02020603050405020304" pitchFamily="18" charset="0"/>
                <a:cs typeface="Times New Roman" panose="02020603050405020304" pitchFamily="18" charset="0"/>
              </a:rPr>
              <a:t>Chunks created with overlap to preserve semantic context during retrieval</a:t>
            </a:r>
          </a:p>
          <a:p>
            <a:pPr marL="285750" indent="-285750">
              <a:lnSpc>
                <a:spcPct val="150000"/>
              </a:lnSpc>
              <a:buFont typeface="Wingdings" panose="05000000000000000000" pitchFamily="2" charset="2"/>
              <a:buChar char="§"/>
            </a:pPr>
            <a:r>
              <a:rPr lang="en-IN" dirty="0">
                <a:latin typeface="Times New Roman" panose="02020603050405020304" pitchFamily="18" charset="0"/>
                <a:cs typeface="Times New Roman" panose="02020603050405020304" pitchFamily="18" charset="0"/>
              </a:rPr>
              <a:t>Text embedded into vector space using a sentence-transformer model (all-MiniLM-L6-v2)</a:t>
            </a:r>
          </a:p>
          <a:p>
            <a:pPr marL="285750" indent="-285750">
              <a:lnSpc>
                <a:spcPct val="150000"/>
              </a:lnSpc>
              <a:buFont typeface="Wingdings" panose="05000000000000000000" pitchFamily="2" charset="2"/>
              <a:buChar char="§"/>
            </a:pPr>
            <a:r>
              <a:rPr lang="en-IN" dirty="0">
                <a:latin typeface="Times New Roman" panose="02020603050405020304" pitchFamily="18" charset="0"/>
                <a:cs typeface="Times New Roman" panose="02020603050405020304" pitchFamily="18" charset="0"/>
              </a:rPr>
              <a:t>Stored in Chroma vector database for efficient relevance-based search</a:t>
            </a:r>
          </a:p>
          <a:p>
            <a:pPr marL="285750" indent="-285750">
              <a:lnSpc>
                <a:spcPct val="150000"/>
              </a:lnSpc>
              <a:buFont typeface="Wingdings" panose="05000000000000000000" pitchFamily="2" charset="2"/>
              <a:buChar char="§"/>
            </a:pPr>
            <a:r>
              <a:rPr lang="en-IN" dirty="0">
                <a:latin typeface="Times New Roman" panose="02020603050405020304" pitchFamily="18" charset="0"/>
                <a:cs typeface="Times New Roman" panose="02020603050405020304" pitchFamily="18" charset="0"/>
              </a:rPr>
              <a:t>Retrieval layer fetches top-k relevant chunks for the query</a:t>
            </a:r>
          </a:p>
          <a:p>
            <a:pPr marL="285750" indent="-285750">
              <a:lnSpc>
                <a:spcPct val="150000"/>
              </a:lnSpc>
              <a:buFont typeface="Wingdings" panose="05000000000000000000" pitchFamily="2" charset="2"/>
              <a:buChar char="§"/>
            </a:pPr>
            <a:r>
              <a:rPr lang="en-IN" dirty="0">
                <a:latin typeface="Times New Roman" panose="02020603050405020304" pitchFamily="18" charset="0"/>
                <a:cs typeface="Times New Roman" panose="02020603050405020304" pitchFamily="18" charset="0"/>
              </a:rPr>
              <a:t>LLM layer generates precise, citation-backed answers, enforcing trustworthy outputs</a:t>
            </a:r>
          </a:p>
          <a:p>
            <a:pPr marL="285750" indent="-285750">
              <a:lnSpc>
                <a:spcPct val="150000"/>
              </a:lnSpc>
              <a:buFont typeface="Wingdings" panose="05000000000000000000" pitchFamily="2" charset="2"/>
              <a:buChar char="§"/>
            </a:pPr>
            <a:r>
              <a:rPr lang="en-IN" dirty="0">
                <a:latin typeface="Times New Roman" panose="02020603050405020304" pitchFamily="18" charset="0"/>
                <a:cs typeface="Times New Roman" panose="02020603050405020304" pitchFamily="18" charset="0"/>
              </a:rPr>
              <a:t>Guardrails implemented for hallucination prevention and sensitive query handling</a:t>
            </a:r>
          </a:p>
          <a:p>
            <a:pPr marL="285750" indent="-285750">
              <a:lnSpc>
                <a:spcPct val="150000"/>
              </a:lnSpc>
              <a:buFont typeface="Wingdings" panose="05000000000000000000" pitchFamily="2" charset="2"/>
              <a:buChar char="§"/>
            </a:pPr>
            <a:endParaRPr lang="en-IN" dirty="0">
              <a:latin typeface="Times New Roman" panose="02020603050405020304" pitchFamily="18" charset="0"/>
              <a:cs typeface="Times New Roman" panose="02020603050405020304" pitchFamily="18" charset="0"/>
            </a:endParaRPr>
          </a:p>
        </p:txBody>
      </p:sp>
      <p:sp>
        <p:nvSpPr>
          <p:cNvPr id="8" name="Rectangle 2">
            <a:extLst>
              <a:ext uri="{FF2B5EF4-FFF2-40B4-BE49-F238E27FC236}">
                <a16:creationId xmlns:a16="http://schemas.microsoft.com/office/drawing/2014/main" id="{B0FD4629-4C9E-4B1A-92FA-1BA408DBDFE4}"/>
              </a:ext>
            </a:extLst>
          </p:cNvPr>
          <p:cNvSpPr>
            <a:spLocks noChangeArrowheads="1"/>
          </p:cNvSpPr>
          <p:nvPr/>
        </p:nvSpPr>
        <p:spPr bwMode="auto">
          <a:xfrm rot="10800000" flipV="1">
            <a:off x="1523999" y="4668588"/>
            <a:ext cx="10659856" cy="12875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defTabSz="914400" rtl="0" eaLnBrk="0" fontAlgn="base" latinLnBrk="0" hangingPunct="0">
              <a:lnSpc>
                <a:spcPct val="150000"/>
              </a:lnSpc>
              <a:spcBef>
                <a:spcPct val="0"/>
              </a:spcBef>
              <a:spcAft>
                <a:spcPct val="0"/>
              </a:spcAft>
              <a:buClrTx/>
              <a:buSzTx/>
              <a:tabLst/>
            </a:pPr>
            <a:r>
              <a:rPr kumimoji="0" lang="en-US" altLang="en-US"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An </a:t>
            </a:r>
            <a:r>
              <a:rPr kumimoji="0" lang="en-US" altLang="en-US" sz="18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NLP-based system</a:t>
            </a:r>
            <a:r>
              <a:rPr kumimoji="0" lang="en-US" altLang="en-US"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that allows users to ask questions in natural language and get accurate answers from technical documents (manuals, SOPs, troubleshooting guides).</a:t>
            </a:r>
          </a:p>
          <a:p>
            <a:pPr marL="0" marR="0" lvl="0" indent="0" defTabSz="914400" rtl="0" eaLnBrk="0" fontAlgn="base" latinLnBrk="0" hangingPunct="0">
              <a:lnSpc>
                <a:spcPct val="150000"/>
              </a:lnSpc>
              <a:spcBef>
                <a:spcPct val="0"/>
              </a:spcBef>
              <a:spcAft>
                <a:spcPct val="0"/>
              </a:spcAft>
              <a:buClrTx/>
              <a:buSzTx/>
              <a:tabLst/>
            </a:pPr>
            <a:r>
              <a:rPr kumimoji="0" lang="en-US" altLang="en-US"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Uses </a:t>
            </a:r>
            <a:r>
              <a:rPr kumimoji="0" lang="en-US" altLang="en-US" sz="18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vector embeddings</a:t>
            </a:r>
            <a:r>
              <a:rPr kumimoji="0" lang="en-US" altLang="en-US"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to find relevant sections and </a:t>
            </a:r>
            <a:r>
              <a:rPr kumimoji="0" lang="en-US" altLang="en-US" sz="18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LLM (Language Model)</a:t>
            </a:r>
            <a:r>
              <a:rPr kumimoji="0" lang="en-US" altLang="en-US"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to generate answers.</a:t>
            </a:r>
          </a:p>
        </p:txBody>
      </p:sp>
    </p:spTree>
    <p:extLst>
      <p:ext uri="{BB962C8B-B14F-4D97-AF65-F5344CB8AC3E}">
        <p14:creationId xmlns:p14="http://schemas.microsoft.com/office/powerpoint/2010/main" val="147731371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91158CA-BB23-3C82-3775-EE86A91DC3E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127225" y="134523"/>
            <a:ext cx="1904231" cy="415053"/>
          </a:xfrm>
          <a:prstGeom prst="rect">
            <a:avLst/>
          </a:prstGeom>
        </p:spPr>
      </p:pic>
      <p:pic>
        <p:nvPicPr>
          <p:cNvPr id="3" name="Picture 2">
            <a:extLst>
              <a:ext uri="{FF2B5EF4-FFF2-40B4-BE49-F238E27FC236}">
                <a16:creationId xmlns:a16="http://schemas.microsoft.com/office/drawing/2014/main" id="{C36F14AF-2D0C-C5AB-C890-A954E11CB16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58682" y="1296337"/>
            <a:ext cx="9320658" cy="3247118"/>
          </a:xfrm>
          <a:prstGeom prst="rect">
            <a:avLst/>
          </a:prstGeom>
        </p:spPr>
      </p:pic>
      <p:sp>
        <p:nvSpPr>
          <p:cNvPr id="8" name="TextBox 7">
            <a:extLst>
              <a:ext uri="{FF2B5EF4-FFF2-40B4-BE49-F238E27FC236}">
                <a16:creationId xmlns:a16="http://schemas.microsoft.com/office/drawing/2014/main" id="{8808620C-DFB5-D77A-A99A-EE104922D056}"/>
              </a:ext>
            </a:extLst>
          </p:cNvPr>
          <p:cNvSpPr txBox="1"/>
          <p:nvPr/>
        </p:nvSpPr>
        <p:spPr>
          <a:xfrm>
            <a:off x="1523999" y="0"/>
            <a:ext cx="1465007" cy="523220"/>
          </a:xfrm>
          <a:prstGeom prst="rect">
            <a:avLst/>
          </a:prstGeom>
          <a:noFill/>
        </p:spPr>
        <p:txBody>
          <a:bodyPr wrap="square" rtlCol="0">
            <a:spAutoFit/>
          </a:bodyPr>
          <a:lstStyle/>
          <a:p>
            <a:r>
              <a:rPr lang="en-IN" sz="2800" dirty="0">
                <a:latin typeface="Times New Roman" panose="02020603050405020304" pitchFamily="18" charset="0"/>
                <a:cs typeface="Times New Roman" panose="02020603050405020304" pitchFamily="18" charset="0"/>
              </a:rPr>
              <a:t>Task 2</a:t>
            </a:r>
          </a:p>
        </p:txBody>
      </p:sp>
      <p:sp>
        <p:nvSpPr>
          <p:cNvPr id="9" name="TextBox 8">
            <a:extLst>
              <a:ext uri="{FF2B5EF4-FFF2-40B4-BE49-F238E27FC236}">
                <a16:creationId xmlns:a16="http://schemas.microsoft.com/office/drawing/2014/main" id="{9F0CA740-F23D-4AB4-D0D4-2FFB75E7DA9D}"/>
              </a:ext>
            </a:extLst>
          </p:cNvPr>
          <p:cNvSpPr txBox="1"/>
          <p:nvPr/>
        </p:nvSpPr>
        <p:spPr>
          <a:xfrm>
            <a:off x="4482549" y="550854"/>
            <a:ext cx="3727173" cy="461665"/>
          </a:xfrm>
          <a:prstGeom prst="rect">
            <a:avLst/>
          </a:prstGeom>
          <a:noFill/>
        </p:spPr>
        <p:txBody>
          <a:bodyPr wrap="square" rtlCol="0">
            <a:spAutoFit/>
          </a:bodyPr>
          <a:lstStyle/>
          <a:p>
            <a:r>
              <a:rPr lang="en-IN" sz="2400" u="sng" dirty="0">
                <a:latin typeface="Times New Roman" panose="02020603050405020304" pitchFamily="18" charset="0"/>
                <a:cs typeface="Times New Roman" panose="02020603050405020304" pitchFamily="18" charset="0"/>
              </a:rPr>
              <a:t>RAG System Architecture</a:t>
            </a:r>
          </a:p>
        </p:txBody>
      </p:sp>
      <p:sp>
        <p:nvSpPr>
          <p:cNvPr id="10" name="TextBox 9">
            <a:extLst>
              <a:ext uri="{FF2B5EF4-FFF2-40B4-BE49-F238E27FC236}">
                <a16:creationId xmlns:a16="http://schemas.microsoft.com/office/drawing/2014/main" id="{F6212DB8-BFAD-E1FD-A15B-3C9D9473D9A7}"/>
              </a:ext>
            </a:extLst>
          </p:cNvPr>
          <p:cNvSpPr txBox="1"/>
          <p:nvPr/>
        </p:nvSpPr>
        <p:spPr>
          <a:xfrm>
            <a:off x="1847960" y="4827273"/>
            <a:ext cx="9142101" cy="923330"/>
          </a:xfrm>
          <a:prstGeom prst="rect">
            <a:avLst/>
          </a:prstGeom>
          <a:noFill/>
        </p:spPr>
        <p:txBody>
          <a:bodyPr wrap="square" rtlCol="0">
            <a:spAutoFit/>
          </a:bodyPr>
          <a:lstStyle/>
          <a:p>
            <a:r>
              <a:rPr lang="en-IN" b="1" dirty="0">
                <a:latin typeface="Times New Roman" panose="02020603050405020304" pitchFamily="18" charset="0"/>
                <a:cs typeface="Times New Roman" panose="02020603050405020304" pitchFamily="18" charset="0"/>
              </a:rPr>
              <a:t>Components:</a:t>
            </a:r>
          </a:p>
          <a:p>
            <a:r>
              <a:rPr lang="en-IN" dirty="0">
                <a:latin typeface="Times New Roman" panose="02020603050405020304" pitchFamily="18" charset="0"/>
                <a:cs typeface="Times New Roman" panose="02020603050405020304" pitchFamily="18" charset="0"/>
              </a:rPr>
              <a:t>Document ingestion → Chunking → Embeddings → Retrieval → LLM → Answer with source</a:t>
            </a:r>
          </a:p>
          <a:p>
            <a:endParaRPr lang="en-IN"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8967531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005C332-7C8F-C2D5-8B66-DA5CFEC95A5A}"/>
              </a:ext>
            </a:extLst>
          </p:cNvPr>
          <p:cNvSpPr txBox="1"/>
          <p:nvPr/>
        </p:nvSpPr>
        <p:spPr>
          <a:xfrm>
            <a:off x="1523999" y="0"/>
            <a:ext cx="1465007" cy="523220"/>
          </a:xfrm>
          <a:prstGeom prst="rect">
            <a:avLst/>
          </a:prstGeom>
          <a:noFill/>
        </p:spPr>
        <p:txBody>
          <a:bodyPr wrap="square" rtlCol="0">
            <a:spAutoFit/>
          </a:bodyPr>
          <a:lstStyle/>
          <a:p>
            <a:r>
              <a:rPr lang="en-IN" sz="2800" dirty="0">
                <a:latin typeface="Times New Roman" panose="02020603050405020304" pitchFamily="18" charset="0"/>
                <a:cs typeface="Times New Roman" panose="02020603050405020304" pitchFamily="18" charset="0"/>
              </a:rPr>
              <a:t>Task 2</a:t>
            </a:r>
          </a:p>
        </p:txBody>
      </p:sp>
      <p:pic>
        <p:nvPicPr>
          <p:cNvPr id="3" name="Picture 2">
            <a:extLst>
              <a:ext uri="{FF2B5EF4-FFF2-40B4-BE49-F238E27FC236}">
                <a16:creationId xmlns:a16="http://schemas.microsoft.com/office/drawing/2014/main" id="{63B4DA28-9FBA-D964-1982-632C07B9A03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127225" y="134523"/>
            <a:ext cx="1904231" cy="415053"/>
          </a:xfrm>
          <a:prstGeom prst="rect">
            <a:avLst/>
          </a:prstGeom>
        </p:spPr>
      </p:pic>
      <p:sp>
        <p:nvSpPr>
          <p:cNvPr id="4" name="TextBox 3">
            <a:extLst>
              <a:ext uri="{FF2B5EF4-FFF2-40B4-BE49-F238E27FC236}">
                <a16:creationId xmlns:a16="http://schemas.microsoft.com/office/drawing/2014/main" id="{FB70E8C8-DB91-A951-3C08-8BC9C8EE1807}"/>
              </a:ext>
            </a:extLst>
          </p:cNvPr>
          <p:cNvSpPr txBox="1"/>
          <p:nvPr/>
        </p:nvSpPr>
        <p:spPr>
          <a:xfrm>
            <a:off x="4506913" y="342049"/>
            <a:ext cx="4102405" cy="830997"/>
          </a:xfrm>
          <a:prstGeom prst="rect">
            <a:avLst/>
          </a:prstGeom>
          <a:noFill/>
        </p:spPr>
        <p:txBody>
          <a:bodyPr wrap="none" rtlCol="0">
            <a:spAutoFit/>
          </a:bodyPr>
          <a:lstStyle/>
          <a:p>
            <a:r>
              <a:rPr lang="en-IN" sz="2400" u="sng" dirty="0">
                <a:latin typeface="Times New Roman" panose="02020603050405020304" pitchFamily="18" charset="0"/>
                <a:cs typeface="Times New Roman" panose="02020603050405020304" pitchFamily="18" charset="0"/>
              </a:rPr>
              <a:t>Retrieval Strategy &amp; Guardrails</a:t>
            </a:r>
          </a:p>
          <a:p>
            <a:endParaRPr lang="en-IN" sz="2400" u="sng" dirty="0">
              <a:latin typeface="Times New Roman" panose="02020603050405020304" pitchFamily="18" charset="0"/>
              <a:cs typeface="Times New Roman" panose="02020603050405020304" pitchFamily="18" charset="0"/>
            </a:endParaRPr>
          </a:p>
        </p:txBody>
      </p:sp>
      <p:sp>
        <p:nvSpPr>
          <p:cNvPr id="5" name="TextBox 4">
            <a:extLst>
              <a:ext uri="{FF2B5EF4-FFF2-40B4-BE49-F238E27FC236}">
                <a16:creationId xmlns:a16="http://schemas.microsoft.com/office/drawing/2014/main" id="{A1B8AA91-7ACC-8F14-569F-423BAD074EA9}"/>
              </a:ext>
            </a:extLst>
          </p:cNvPr>
          <p:cNvSpPr txBox="1"/>
          <p:nvPr/>
        </p:nvSpPr>
        <p:spPr>
          <a:xfrm>
            <a:off x="2256502" y="1092217"/>
            <a:ext cx="9174306" cy="2535566"/>
          </a:xfrm>
          <a:prstGeom prst="rect">
            <a:avLst/>
          </a:prstGeom>
          <a:noFill/>
        </p:spPr>
        <p:txBody>
          <a:bodyPr wrap="none" rtlCol="0">
            <a:spAutoFit/>
          </a:bodyPr>
          <a:lstStyle/>
          <a:p>
            <a:pPr marL="342900" indent="-342900">
              <a:lnSpc>
                <a:spcPct val="150000"/>
              </a:lnSpc>
              <a:buFont typeface="Wingdings" panose="05000000000000000000" pitchFamily="2" charset="2"/>
              <a:buChar char="§"/>
            </a:pPr>
            <a:r>
              <a:rPr lang="en-IN" dirty="0">
                <a:latin typeface="Times New Roman" panose="02020603050405020304" pitchFamily="18" charset="0"/>
                <a:cs typeface="Times New Roman" panose="02020603050405020304" pitchFamily="18" charset="0"/>
              </a:rPr>
              <a:t>Chunking: 400 token size with 100 token overlap balances context retention and performance</a:t>
            </a:r>
          </a:p>
          <a:p>
            <a:pPr marL="342900" indent="-342900">
              <a:lnSpc>
                <a:spcPct val="150000"/>
              </a:lnSpc>
              <a:buFont typeface="Wingdings" panose="05000000000000000000" pitchFamily="2" charset="2"/>
              <a:buChar char="§"/>
            </a:pPr>
            <a:r>
              <a:rPr lang="en-IN" dirty="0">
                <a:latin typeface="Times New Roman" panose="02020603050405020304" pitchFamily="18" charset="0"/>
                <a:cs typeface="Times New Roman" panose="02020603050405020304" pitchFamily="18" charset="0"/>
              </a:rPr>
              <a:t>Dense vector search combined with reranking ensures high-quality, relevant results</a:t>
            </a:r>
          </a:p>
          <a:p>
            <a:pPr marL="342900" indent="-342900">
              <a:lnSpc>
                <a:spcPct val="150000"/>
              </a:lnSpc>
              <a:buFont typeface="Wingdings" panose="05000000000000000000" pitchFamily="2" charset="2"/>
              <a:buChar char="§"/>
            </a:pPr>
            <a:r>
              <a:rPr lang="en-IN" dirty="0">
                <a:latin typeface="Times New Roman" panose="02020603050405020304" pitchFamily="18" charset="0"/>
                <a:cs typeface="Times New Roman" panose="02020603050405020304" pitchFamily="18" charset="0"/>
              </a:rPr>
              <a:t>Enforcing source citations combats hallucination and supports answer faithfulness</a:t>
            </a:r>
          </a:p>
          <a:p>
            <a:pPr marL="342900" indent="-342900">
              <a:lnSpc>
                <a:spcPct val="150000"/>
              </a:lnSpc>
              <a:buFont typeface="Wingdings" panose="05000000000000000000" pitchFamily="2" charset="2"/>
              <a:buChar char="§"/>
            </a:pPr>
            <a:r>
              <a:rPr lang="en-IN" dirty="0">
                <a:latin typeface="Times New Roman" panose="02020603050405020304" pitchFamily="18" charset="0"/>
                <a:cs typeface="Times New Roman" panose="02020603050405020304" pitchFamily="18" charset="0"/>
              </a:rPr>
              <a:t>Fallback strategy handles cases with no relevant documents gracefully</a:t>
            </a:r>
          </a:p>
          <a:p>
            <a:pPr marL="342900" indent="-342900">
              <a:lnSpc>
                <a:spcPct val="150000"/>
              </a:lnSpc>
              <a:buFont typeface="Wingdings" panose="05000000000000000000" pitchFamily="2" charset="2"/>
              <a:buChar char="§"/>
            </a:pPr>
            <a:r>
              <a:rPr lang="en-IN" dirty="0">
                <a:latin typeface="Times New Roman" panose="02020603050405020304" pitchFamily="18" charset="0"/>
                <a:cs typeface="Times New Roman" panose="02020603050405020304" pitchFamily="18" charset="0"/>
              </a:rPr>
              <a:t>Blocks or flags sensitive queries for safety and compliance</a:t>
            </a:r>
          </a:p>
          <a:p>
            <a:pPr marL="342900" indent="-342900">
              <a:lnSpc>
                <a:spcPct val="150000"/>
              </a:lnSpc>
              <a:buFont typeface="Wingdings" panose="05000000000000000000" pitchFamily="2" charset="2"/>
              <a:buChar char="§"/>
            </a:pPr>
            <a:r>
              <a:rPr lang="en-IN" dirty="0">
                <a:latin typeface="Times New Roman" panose="02020603050405020304" pitchFamily="18" charset="0"/>
                <a:cs typeface="Times New Roman" panose="02020603050405020304" pitchFamily="18" charset="0"/>
              </a:rPr>
              <a:t>Monitors retrieval quality using </a:t>
            </a:r>
            <a:r>
              <a:rPr lang="en-IN" dirty="0" err="1">
                <a:latin typeface="Times New Roman" panose="02020603050405020304" pitchFamily="18" charset="0"/>
                <a:cs typeface="Times New Roman" panose="02020603050405020304" pitchFamily="18" charset="0"/>
              </a:rPr>
              <a:t>precision@k</a:t>
            </a:r>
            <a:r>
              <a:rPr lang="en-IN" dirty="0">
                <a:latin typeface="Times New Roman" panose="02020603050405020304" pitchFamily="18" charset="0"/>
                <a:cs typeface="Times New Roman" panose="02020603050405020304" pitchFamily="18" charset="0"/>
              </a:rPr>
              <a:t>, </a:t>
            </a:r>
            <a:r>
              <a:rPr lang="en-IN" dirty="0" err="1">
                <a:latin typeface="Times New Roman" panose="02020603050405020304" pitchFamily="18" charset="0"/>
                <a:cs typeface="Times New Roman" panose="02020603050405020304" pitchFamily="18" charset="0"/>
              </a:rPr>
              <a:t>recall@k</a:t>
            </a:r>
            <a:r>
              <a:rPr lang="en-IN" dirty="0">
                <a:latin typeface="Times New Roman" panose="02020603050405020304" pitchFamily="18" charset="0"/>
                <a:cs typeface="Times New Roman" panose="02020603050405020304" pitchFamily="18" charset="0"/>
              </a:rPr>
              <a:t>, and answer faithfulness metrics</a:t>
            </a:r>
          </a:p>
        </p:txBody>
      </p:sp>
      <p:sp>
        <p:nvSpPr>
          <p:cNvPr id="6" name="TextBox 5">
            <a:extLst>
              <a:ext uri="{FF2B5EF4-FFF2-40B4-BE49-F238E27FC236}">
                <a16:creationId xmlns:a16="http://schemas.microsoft.com/office/drawing/2014/main" id="{0999C726-35FD-288E-5415-AA1AC7F1EC07}"/>
              </a:ext>
            </a:extLst>
          </p:cNvPr>
          <p:cNvSpPr txBox="1"/>
          <p:nvPr/>
        </p:nvSpPr>
        <p:spPr>
          <a:xfrm>
            <a:off x="1113952" y="3882190"/>
            <a:ext cx="11078048" cy="1704569"/>
          </a:xfrm>
          <a:prstGeom prst="rect">
            <a:avLst/>
          </a:prstGeom>
          <a:noFill/>
        </p:spPr>
        <p:txBody>
          <a:bodyPr wrap="square" rtlCol="0">
            <a:spAutoFit/>
          </a:bodyPr>
          <a:lstStyle/>
          <a:p>
            <a:pPr>
              <a:lnSpc>
                <a:spcPct val="150000"/>
              </a:lnSpc>
            </a:pPr>
            <a:r>
              <a:rPr lang="en-US" dirty="0">
                <a:latin typeface="Times New Roman" panose="02020603050405020304" pitchFamily="18" charset="0"/>
                <a:cs typeface="Times New Roman" panose="02020603050405020304" pitchFamily="18" charset="0"/>
              </a:rPr>
              <a:t>The system uses efficient chunking and reranked vector search to improve retrieval relevance. Source citations are enforced to ensure accurate and trustworthy answers, while fallback strategies handle missing or sensitive queries gracefully. Retrieval quality is continuously monitored using </a:t>
            </a:r>
            <a:r>
              <a:rPr lang="en-US" dirty="0" err="1">
                <a:latin typeface="Times New Roman" panose="02020603050405020304" pitchFamily="18" charset="0"/>
                <a:cs typeface="Times New Roman" panose="02020603050405020304" pitchFamily="18" charset="0"/>
              </a:rPr>
              <a:t>precision@k</a:t>
            </a:r>
            <a:r>
              <a:rPr lang="en-US" dirty="0">
                <a:latin typeface="Times New Roman" panose="02020603050405020304" pitchFamily="18" charset="0"/>
                <a:cs typeface="Times New Roman" panose="02020603050405020304" pitchFamily="18" charset="0"/>
              </a:rPr>
              <a:t>, </a:t>
            </a:r>
            <a:r>
              <a:rPr lang="en-US" dirty="0" err="1">
                <a:latin typeface="Times New Roman" panose="02020603050405020304" pitchFamily="18" charset="0"/>
                <a:cs typeface="Times New Roman" panose="02020603050405020304" pitchFamily="18" charset="0"/>
              </a:rPr>
              <a:t>recall@k</a:t>
            </a:r>
            <a:r>
              <a:rPr lang="en-US" dirty="0">
                <a:latin typeface="Times New Roman" panose="02020603050405020304" pitchFamily="18" charset="0"/>
                <a:cs typeface="Times New Roman" panose="02020603050405020304" pitchFamily="18" charset="0"/>
              </a:rPr>
              <a:t>, and faithfulness metrics to maintain reliable performance.</a:t>
            </a:r>
            <a:endParaRPr lang="en-IN"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88693712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1">
            <a:extLst>
              <a:ext uri="{FF2B5EF4-FFF2-40B4-BE49-F238E27FC236}">
                <a16:creationId xmlns:a16="http://schemas.microsoft.com/office/drawing/2014/main" id="{D849766C-B6AD-B963-55FB-707877BA8475}"/>
              </a:ext>
            </a:extLst>
          </p:cNvPr>
          <p:cNvSpPr>
            <a:spLocks noChangeArrowheads="1"/>
          </p:cNvSpPr>
          <p:nvPr/>
        </p:nvSpPr>
        <p:spPr bwMode="auto">
          <a:xfrm rot="10800000" flipV="1">
            <a:off x="2256502" y="1078097"/>
            <a:ext cx="9537931" cy="29510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285750" indent="-285750">
              <a:lnSpc>
                <a:spcPct val="150000"/>
              </a:lnSpc>
              <a:buFont typeface="Wingdings" panose="05000000000000000000" pitchFamily="2" charset="2"/>
              <a:buChar char="§"/>
            </a:pPr>
            <a:r>
              <a:rPr lang="en-IN" dirty="0">
                <a:latin typeface="Times New Roman" panose="02020603050405020304" pitchFamily="18" charset="0"/>
                <a:cs typeface="Times New Roman" panose="02020603050405020304" pitchFamily="18" charset="0"/>
              </a:rPr>
              <a:t>Scales to 10x more documents with sharding and distributed vector indexing</a:t>
            </a:r>
          </a:p>
          <a:p>
            <a:pPr marL="285750" indent="-285750">
              <a:lnSpc>
                <a:spcPct val="150000"/>
              </a:lnSpc>
              <a:buFont typeface="Wingdings" panose="05000000000000000000" pitchFamily="2" charset="2"/>
              <a:buChar char="§"/>
            </a:pPr>
            <a:r>
              <a:rPr lang="en-IN" dirty="0">
                <a:latin typeface="Times New Roman" panose="02020603050405020304" pitchFamily="18" charset="0"/>
                <a:cs typeface="Times New Roman" panose="02020603050405020304" pitchFamily="18" charset="0"/>
              </a:rPr>
              <a:t>Supports 100+ concurrent users via serverless or containerized cloud infrastructure</a:t>
            </a:r>
          </a:p>
          <a:p>
            <a:pPr marL="285750" indent="-285750">
              <a:lnSpc>
                <a:spcPct val="150000"/>
              </a:lnSpc>
              <a:buFont typeface="Wingdings" panose="05000000000000000000" pitchFamily="2" charset="2"/>
              <a:buChar char="§"/>
            </a:pPr>
            <a:r>
              <a:rPr lang="en-IN" dirty="0">
                <a:latin typeface="Times New Roman" panose="02020603050405020304" pitchFamily="18" charset="0"/>
                <a:cs typeface="Times New Roman" panose="02020603050405020304" pitchFamily="18" charset="0"/>
              </a:rPr>
              <a:t>Cost-effective deployment leveraging GPU-efficient inference with batching</a:t>
            </a:r>
          </a:p>
          <a:p>
            <a:pPr marL="285750" indent="-285750">
              <a:lnSpc>
                <a:spcPct val="150000"/>
              </a:lnSpc>
              <a:buFont typeface="Wingdings" panose="05000000000000000000" pitchFamily="2" charset="2"/>
              <a:buChar char="§"/>
            </a:pPr>
            <a:r>
              <a:rPr lang="en-IN" dirty="0">
                <a:latin typeface="Times New Roman" panose="02020603050405020304" pitchFamily="18" charset="0"/>
                <a:cs typeface="Times New Roman" panose="02020603050405020304" pitchFamily="18" charset="0"/>
              </a:rPr>
              <a:t>Prototype built on open-source tools: Chroma vector store, Sentence Transformer embeddings, Hugging Face LLMs</a:t>
            </a:r>
          </a:p>
          <a:p>
            <a:pPr marL="285750" indent="-285750">
              <a:lnSpc>
                <a:spcPct val="150000"/>
              </a:lnSpc>
              <a:buFont typeface="Wingdings" panose="05000000000000000000" pitchFamily="2" charset="2"/>
              <a:buChar char="§"/>
            </a:pPr>
            <a:r>
              <a:rPr lang="en-IN" dirty="0">
                <a:latin typeface="Times New Roman" panose="02020603050405020304" pitchFamily="18" charset="0"/>
                <a:cs typeface="Times New Roman" panose="02020603050405020304" pitchFamily="18" charset="0"/>
              </a:rPr>
              <a:t>Provides a demo supporting natural language Q&amp;A with source citations</a:t>
            </a:r>
          </a:p>
          <a:p>
            <a:pPr marL="285750" marR="0" lvl="0" indent="-285750" algn="l" defTabSz="914400" rtl="0" eaLnBrk="0" fontAlgn="base" latinLnBrk="0" hangingPunct="0">
              <a:lnSpc>
                <a:spcPct val="150000"/>
              </a:lnSpc>
              <a:spcBef>
                <a:spcPct val="0"/>
              </a:spcBef>
              <a:spcAft>
                <a:spcPct val="0"/>
              </a:spcAft>
              <a:buClrTx/>
              <a:buSzTx/>
              <a:buFont typeface="Wingdings" panose="05000000000000000000" pitchFamily="2" charset="2"/>
              <a:buChar char="§"/>
              <a:tabLst/>
            </a:pPr>
            <a:endParaRPr kumimoji="0" lang="en-US" altLang="en-US"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p:txBody>
      </p:sp>
      <p:sp>
        <p:nvSpPr>
          <p:cNvPr id="7" name="TextBox 6">
            <a:extLst>
              <a:ext uri="{FF2B5EF4-FFF2-40B4-BE49-F238E27FC236}">
                <a16:creationId xmlns:a16="http://schemas.microsoft.com/office/drawing/2014/main" id="{CBAE9123-34DD-2E02-273B-7EB4DD1B0C65}"/>
              </a:ext>
            </a:extLst>
          </p:cNvPr>
          <p:cNvSpPr txBox="1"/>
          <p:nvPr/>
        </p:nvSpPr>
        <p:spPr>
          <a:xfrm>
            <a:off x="1126862" y="4193792"/>
            <a:ext cx="10628671" cy="872034"/>
          </a:xfrm>
          <a:prstGeom prst="rect">
            <a:avLst/>
          </a:prstGeom>
          <a:noFill/>
        </p:spPr>
        <p:txBody>
          <a:bodyPr wrap="square" rtlCol="0">
            <a:spAutoFit/>
          </a:bodyPr>
          <a:lstStyle/>
          <a:p>
            <a:pPr>
              <a:lnSpc>
                <a:spcPct val="150000"/>
              </a:lnSpc>
            </a:pPr>
            <a:r>
              <a:rPr lang="en-US" dirty="0">
                <a:latin typeface="Times New Roman" panose="02020603050405020304" pitchFamily="18" charset="0"/>
                <a:cs typeface="Times New Roman" panose="02020603050405020304" pitchFamily="18" charset="0"/>
              </a:rPr>
              <a:t>The prototype demonstrates how the system can answer real queries reliably. The design ensures it can scale up without performance loss and remain cost-efficient.</a:t>
            </a:r>
            <a:endParaRPr lang="en-IN" dirty="0">
              <a:latin typeface="Times New Roman" panose="02020603050405020304" pitchFamily="18" charset="0"/>
              <a:cs typeface="Times New Roman" panose="02020603050405020304" pitchFamily="18" charset="0"/>
            </a:endParaRPr>
          </a:p>
        </p:txBody>
      </p:sp>
      <p:pic>
        <p:nvPicPr>
          <p:cNvPr id="8" name="Picture 7">
            <a:extLst>
              <a:ext uri="{FF2B5EF4-FFF2-40B4-BE49-F238E27FC236}">
                <a16:creationId xmlns:a16="http://schemas.microsoft.com/office/drawing/2014/main" id="{D15A9C2F-2A61-58BA-A72C-45AC00720C2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127225" y="134523"/>
            <a:ext cx="1904231" cy="415053"/>
          </a:xfrm>
          <a:prstGeom prst="rect">
            <a:avLst/>
          </a:prstGeom>
        </p:spPr>
      </p:pic>
      <p:sp>
        <p:nvSpPr>
          <p:cNvPr id="2" name="TextBox 1">
            <a:extLst>
              <a:ext uri="{FF2B5EF4-FFF2-40B4-BE49-F238E27FC236}">
                <a16:creationId xmlns:a16="http://schemas.microsoft.com/office/drawing/2014/main" id="{62BF7050-37DC-08C6-CF31-F0BD4359A3A2}"/>
              </a:ext>
            </a:extLst>
          </p:cNvPr>
          <p:cNvSpPr txBox="1"/>
          <p:nvPr/>
        </p:nvSpPr>
        <p:spPr>
          <a:xfrm>
            <a:off x="1523999" y="0"/>
            <a:ext cx="1465007" cy="523220"/>
          </a:xfrm>
          <a:prstGeom prst="rect">
            <a:avLst/>
          </a:prstGeom>
          <a:noFill/>
        </p:spPr>
        <p:txBody>
          <a:bodyPr wrap="square" rtlCol="0">
            <a:spAutoFit/>
          </a:bodyPr>
          <a:lstStyle/>
          <a:p>
            <a:r>
              <a:rPr lang="en-IN" sz="2800" dirty="0">
                <a:latin typeface="Times New Roman" panose="02020603050405020304" pitchFamily="18" charset="0"/>
                <a:cs typeface="Times New Roman" panose="02020603050405020304" pitchFamily="18" charset="0"/>
              </a:rPr>
              <a:t>Task 2</a:t>
            </a:r>
          </a:p>
        </p:txBody>
      </p:sp>
      <p:sp>
        <p:nvSpPr>
          <p:cNvPr id="4" name="TextBox 3">
            <a:extLst>
              <a:ext uri="{FF2B5EF4-FFF2-40B4-BE49-F238E27FC236}">
                <a16:creationId xmlns:a16="http://schemas.microsoft.com/office/drawing/2014/main" id="{5FB61B4F-3BD0-C666-0F46-1D9BF7BD5CE0}"/>
              </a:ext>
            </a:extLst>
          </p:cNvPr>
          <p:cNvSpPr txBox="1"/>
          <p:nvPr/>
        </p:nvSpPr>
        <p:spPr>
          <a:xfrm>
            <a:off x="4374995" y="451802"/>
            <a:ext cx="3163045" cy="461665"/>
          </a:xfrm>
          <a:prstGeom prst="rect">
            <a:avLst/>
          </a:prstGeom>
          <a:noFill/>
        </p:spPr>
        <p:txBody>
          <a:bodyPr wrap="none" rtlCol="0">
            <a:spAutoFit/>
          </a:bodyPr>
          <a:lstStyle/>
          <a:p>
            <a:r>
              <a:rPr lang="en-IN" sz="2400" u="sng" dirty="0">
                <a:latin typeface="Times New Roman" panose="02020603050405020304" pitchFamily="18" charset="0"/>
                <a:cs typeface="Times New Roman" panose="02020603050405020304" pitchFamily="18" charset="0"/>
              </a:rPr>
              <a:t>Scalability &amp; Prototype </a:t>
            </a:r>
          </a:p>
        </p:txBody>
      </p:sp>
    </p:spTree>
    <p:extLst>
      <p:ext uri="{BB962C8B-B14F-4D97-AF65-F5344CB8AC3E}">
        <p14:creationId xmlns:p14="http://schemas.microsoft.com/office/powerpoint/2010/main" val="141142843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01B4602-71F9-F36D-FFC9-8254EE08A736}"/>
              </a:ext>
            </a:extLst>
          </p:cNvPr>
          <p:cNvSpPr txBox="1"/>
          <p:nvPr/>
        </p:nvSpPr>
        <p:spPr>
          <a:xfrm>
            <a:off x="4256938" y="467412"/>
            <a:ext cx="3678123" cy="523220"/>
          </a:xfrm>
          <a:prstGeom prst="rect">
            <a:avLst/>
          </a:prstGeom>
          <a:noFill/>
        </p:spPr>
        <p:txBody>
          <a:bodyPr wrap="none" rtlCol="0">
            <a:spAutoFit/>
          </a:bodyPr>
          <a:lstStyle/>
          <a:p>
            <a:r>
              <a:rPr lang="en-IN" sz="2800" u="sng" dirty="0">
                <a:latin typeface="Times New Roman" panose="02020603050405020304" pitchFamily="18" charset="0"/>
                <a:cs typeface="Times New Roman" panose="02020603050405020304" pitchFamily="18" charset="0"/>
              </a:rPr>
              <a:t>Conclusion / Takeaways</a:t>
            </a:r>
          </a:p>
        </p:txBody>
      </p:sp>
      <p:sp>
        <p:nvSpPr>
          <p:cNvPr id="4" name="Rectangle 1">
            <a:extLst>
              <a:ext uri="{FF2B5EF4-FFF2-40B4-BE49-F238E27FC236}">
                <a16:creationId xmlns:a16="http://schemas.microsoft.com/office/drawing/2014/main" id="{4B1A8320-8AA6-DDC5-1788-5BE53189E6F1}"/>
              </a:ext>
            </a:extLst>
          </p:cNvPr>
          <p:cNvSpPr>
            <a:spLocks noChangeArrowheads="1"/>
          </p:cNvSpPr>
          <p:nvPr/>
        </p:nvSpPr>
        <p:spPr bwMode="auto">
          <a:xfrm rot="10800000" flipV="1">
            <a:off x="8607287" y="5484357"/>
            <a:ext cx="2891538" cy="7397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ctr" defTabSz="914400" rtl="0" eaLnBrk="0" fontAlgn="base" latinLnBrk="0" hangingPunct="0">
              <a:lnSpc>
                <a:spcPct val="150000"/>
              </a:lnSpc>
              <a:spcBef>
                <a:spcPct val="0"/>
              </a:spcBef>
              <a:spcAft>
                <a:spcPct val="0"/>
              </a:spcAft>
              <a:buClrTx/>
              <a:buSzTx/>
              <a:tabLst/>
            </a:pPr>
            <a:r>
              <a:rPr kumimoji="0" lang="en-US" altLang="en-US" sz="32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Thank you</a:t>
            </a:r>
          </a:p>
        </p:txBody>
      </p:sp>
      <p:sp>
        <p:nvSpPr>
          <p:cNvPr id="5" name="Rectangle 2">
            <a:extLst>
              <a:ext uri="{FF2B5EF4-FFF2-40B4-BE49-F238E27FC236}">
                <a16:creationId xmlns:a16="http://schemas.microsoft.com/office/drawing/2014/main" id="{59C1E96E-051E-798C-9EC0-4FD8F60309D0}"/>
              </a:ext>
            </a:extLst>
          </p:cNvPr>
          <p:cNvSpPr>
            <a:spLocks noChangeArrowheads="1"/>
          </p:cNvSpPr>
          <p:nvPr/>
        </p:nvSpPr>
        <p:spPr bwMode="auto">
          <a:xfrm rot="10800000" flipV="1">
            <a:off x="1401415" y="1371619"/>
            <a:ext cx="10790585" cy="37820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285750" marR="0" lvl="0" indent="-285750" defTabSz="914400" rtl="0" eaLnBrk="0" fontAlgn="base" latinLnBrk="0" hangingPunct="0">
              <a:lnSpc>
                <a:spcPct val="150000"/>
              </a:lnSpc>
              <a:spcBef>
                <a:spcPct val="0"/>
              </a:spcBef>
              <a:spcAft>
                <a:spcPct val="0"/>
              </a:spcAft>
              <a:buClrTx/>
              <a:buSzTx/>
              <a:buFont typeface="Wingdings" panose="05000000000000000000" pitchFamily="2" charset="2"/>
              <a:buChar char="§"/>
              <a:tabLst/>
            </a:pPr>
            <a:r>
              <a:rPr kumimoji="0" lang="en-US" altLang="en-US"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We successfully analyzed 3 years of cyclone machine sensor data to understand operational patterns, detect anomalies, and forecast short-term behavior.</a:t>
            </a:r>
          </a:p>
          <a:p>
            <a:pPr marL="285750" marR="0" lvl="0" indent="-285750" defTabSz="914400" rtl="0" eaLnBrk="0" fontAlgn="base" latinLnBrk="0" hangingPunct="0">
              <a:lnSpc>
                <a:spcPct val="150000"/>
              </a:lnSpc>
              <a:spcBef>
                <a:spcPct val="0"/>
              </a:spcBef>
              <a:spcAft>
                <a:spcPct val="0"/>
              </a:spcAft>
              <a:buClrTx/>
              <a:buSzTx/>
              <a:buFont typeface="Wingdings" panose="05000000000000000000" pitchFamily="2" charset="2"/>
              <a:buChar char="§"/>
              <a:tabLst/>
            </a:pPr>
            <a:r>
              <a:rPr kumimoji="0" lang="en-US" altLang="en-US"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Clustering helped us identify machine states (Normal, High Load, Startup/Shutdown, Degraded) and link anomalies to potential causes.</a:t>
            </a:r>
          </a:p>
          <a:p>
            <a:pPr marL="285750" marR="0" lvl="0" indent="-285750" defTabSz="914400" rtl="0" eaLnBrk="0" fontAlgn="base" latinLnBrk="0" hangingPunct="0">
              <a:lnSpc>
                <a:spcPct val="150000"/>
              </a:lnSpc>
              <a:spcBef>
                <a:spcPct val="0"/>
              </a:spcBef>
              <a:spcAft>
                <a:spcPct val="0"/>
              </a:spcAft>
              <a:buClrTx/>
              <a:buSzTx/>
              <a:buFont typeface="Wingdings" panose="05000000000000000000" pitchFamily="2" charset="2"/>
              <a:buChar char="§"/>
              <a:tabLst/>
            </a:pPr>
            <a:r>
              <a:rPr kumimoji="0" lang="en-US" altLang="en-US"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Shutdown detection and anomaly insights provide actionable recommendations for monitoring and maintenance.</a:t>
            </a:r>
          </a:p>
          <a:p>
            <a:pPr marL="285750" marR="0" lvl="0" indent="-285750" defTabSz="914400" rtl="0" eaLnBrk="0" fontAlgn="base" latinLnBrk="0" hangingPunct="0">
              <a:lnSpc>
                <a:spcPct val="150000"/>
              </a:lnSpc>
              <a:spcBef>
                <a:spcPct val="0"/>
              </a:spcBef>
              <a:spcAft>
                <a:spcPct val="0"/>
              </a:spcAft>
              <a:buClrTx/>
              <a:buSzTx/>
              <a:buFont typeface="Wingdings" panose="05000000000000000000" pitchFamily="2" charset="2"/>
              <a:buChar char="§"/>
              <a:tabLst/>
            </a:pPr>
            <a:r>
              <a:rPr kumimoji="0" lang="en-US" altLang="en-US"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The RAG system design allows fast and reliable access to technical documents using open-source AI models with proper guardrails.</a:t>
            </a:r>
          </a:p>
          <a:p>
            <a:pPr marL="285750" marR="0" lvl="0" indent="-285750" defTabSz="914400" rtl="0" eaLnBrk="0" fontAlgn="base" latinLnBrk="0" hangingPunct="0">
              <a:lnSpc>
                <a:spcPct val="150000"/>
              </a:lnSpc>
              <a:spcBef>
                <a:spcPct val="0"/>
              </a:spcBef>
              <a:spcAft>
                <a:spcPct val="0"/>
              </a:spcAft>
              <a:buClrTx/>
              <a:buSzTx/>
              <a:buFont typeface="Wingdings" panose="05000000000000000000" pitchFamily="2" charset="2"/>
              <a:buChar char="§"/>
              <a:tabLst/>
            </a:pPr>
            <a:r>
              <a:rPr kumimoji="0" lang="en-US" altLang="en-US"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The combined solution demonstrates how data science and AI can improve operational efficiency, decision-making, and knowledge retrieval in a scalable and interpretable way.</a:t>
            </a:r>
          </a:p>
        </p:txBody>
      </p:sp>
      <p:pic>
        <p:nvPicPr>
          <p:cNvPr id="6" name="Picture 5">
            <a:extLst>
              <a:ext uri="{FF2B5EF4-FFF2-40B4-BE49-F238E27FC236}">
                <a16:creationId xmlns:a16="http://schemas.microsoft.com/office/drawing/2014/main" id="{AD27654B-EFCF-BD01-55AB-B93459E90DA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127225" y="134523"/>
            <a:ext cx="1904231" cy="415053"/>
          </a:xfrm>
          <a:prstGeom prst="rect">
            <a:avLst/>
          </a:prstGeom>
        </p:spPr>
      </p:pic>
      <p:sp>
        <p:nvSpPr>
          <p:cNvPr id="3" name="TextBox 2">
            <a:extLst>
              <a:ext uri="{FF2B5EF4-FFF2-40B4-BE49-F238E27FC236}">
                <a16:creationId xmlns:a16="http://schemas.microsoft.com/office/drawing/2014/main" id="{B131ACD3-FE20-4424-7017-3DEC80F0B3E3}"/>
              </a:ext>
            </a:extLst>
          </p:cNvPr>
          <p:cNvSpPr txBox="1"/>
          <p:nvPr/>
        </p:nvSpPr>
        <p:spPr>
          <a:xfrm>
            <a:off x="1523999" y="0"/>
            <a:ext cx="1465007" cy="523220"/>
          </a:xfrm>
          <a:prstGeom prst="rect">
            <a:avLst/>
          </a:prstGeom>
          <a:noFill/>
        </p:spPr>
        <p:txBody>
          <a:bodyPr wrap="square" rtlCol="0">
            <a:spAutoFit/>
          </a:bodyPr>
          <a:lstStyle/>
          <a:p>
            <a:r>
              <a:rPr lang="en-IN" sz="2800" dirty="0">
                <a:latin typeface="Times New Roman" panose="02020603050405020304" pitchFamily="18" charset="0"/>
                <a:cs typeface="Times New Roman" panose="02020603050405020304" pitchFamily="18" charset="0"/>
              </a:rPr>
              <a:t>Task 2</a:t>
            </a:r>
          </a:p>
        </p:txBody>
      </p:sp>
    </p:spTree>
    <p:extLst>
      <p:ext uri="{BB962C8B-B14F-4D97-AF65-F5344CB8AC3E}">
        <p14:creationId xmlns:p14="http://schemas.microsoft.com/office/powerpoint/2010/main" val="1861388904"/>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Parallax">
  <a:themeElements>
    <a:clrScheme name="Blue Warm">
      <a:dk1>
        <a:sysClr val="windowText" lastClr="000000"/>
      </a:dk1>
      <a:lt1>
        <a:sysClr val="window" lastClr="FFFFFF"/>
      </a:lt1>
      <a:dk2>
        <a:srgbClr val="242852"/>
      </a:dk2>
      <a:lt2>
        <a:srgbClr val="ACCBF9"/>
      </a:lt2>
      <a:accent1>
        <a:srgbClr val="4A66AC"/>
      </a:accent1>
      <a:accent2>
        <a:srgbClr val="629DD1"/>
      </a:accent2>
      <a:accent3>
        <a:srgbClr val="297FD5"/>
      </a:accent3>
      <a:accent4>
        <a:srgbClr val="7F8FA9"/>
      </a:accent4>
      <a:accent5>
        <a:srgbClr val="5AA2AE"/>
      </a:accent5>
      <a:accent6>
        <a:srgbClr val="9D90A0"/>
      </a:accent6>
      <a:hlink>
        <a:srgbClr val="9454C3"/>
      </a:hlink>
      <a:folHlink>
        <a:srgbClr val="3EBBF0"/>
      </a:folHlink>
    </a:clrScheme>
    <a:fontScheme name="Parallax">
      <a:majorFont>
        <a:latin typeface="Corbel" panose="020B0503020204020204"/>
        <a:ea typeface=""/>
        <a:cs typeface=""/>
        <a:font script="Jpan" typeface="HGｺﾞｼｯｸM"/>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orbel" panose="020B0503020204020204"/>
        <a:ea typeface=""/>
        <a:cs typeface=""/>
        <a:font script="Jpan" typeface="HGｺﾞｼｯｸM"/>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Parallax">
      <a:fillStyleLst>
        <a:solidFill>
          <a:schemeClr val="phClr"/>
        </a:solidFill>
        <a:gradFill rotWithShape="1">
          <a:gsLst>
            <a:gs pos="0">
              <a:schemeClr val="phClr">
                <a:tint val="60000"/>
                <a:lumMod val="104000"/>
              </a:schemeClr>
            </a:gs>
            <a:gs pos="100000">
              <a:schemeClr val="phClr">
                <a:tint val="84000"/>
              </a:schemeClr>
            </a:gs>
          </a:gsLst>
          <a:lin ang="5400000" scaled="0"/>
        </a:gradFill>
        <a:gradFill rotWithShape="1">
          <a:gsLst>
            <a:gs pos="0">
              <a:schemeClr val="phClr">
                <a:tint val="96000"/>
                <a:lumMod val="102000"/>
              </a:schemeClr>
            </a:gs>
            <a:gs pos="100000">
              <a:schemeClr val="phClr">
                <a:shade val="88000"/>
                <a:lumMod val="94000"/>
              </a:schemeClr>
            </a:gs>
          </a:gsLst>
          <a:path path="circle">
            <a:fillToRect l="50000" t="100000" r="100000" b="50000"/>
          </a:path>
        </a:gradFill>
      </a:fillStyleLst>
      <a:lnStyleLst>
        <a:ln w="9525" cap="rnd" cmpd="sng" algn="ctr">
          <a:solidFill>
            <a:schemeClr val="phClr">
              <a:tint val="60000"/>
            </a:schemeClr>
          </a:solidFill>
          <a:prstDash val="solid"/>
        </a:ln>
        <a:ln w="15875" cap="rnd" cmpd="sng" algn="ctr">
          <a:solidFill>
            <a:schemeClr val="phClr"/>
          </a:solidFill>
          <a:prstDash val="solid"/>
        </a:ln>
        <a:ln w="22225" cap="rnd" cmpd="sng" algn="ctr">
          <a:solidFill>
            <a:schemeClr val="phClr"/>
          </a:solidFill>
          <a:prstDash val="solid"/>
        </a:ln>
      </a:lnStyleLst>
      <a:effectStyleLst>
        <a:effectStyle>
          <a:effectLst/>
        </a:effectStyle>
        <a:effectStyle>
          <a:effectLst>
            <a:reflection blurRad="12700" stA="26000" endPos="32000" dist="12700" dir="5400000" sy="-100000" rotWithShape="0"/>
          </a:effectLst>
        </a:effectStyle>
        <a:effectStyle>
          <a:effectLst>
            <a:outerShdw blurRad="38100" dist="25400" dir="5400000" rotWithShape="0">
              <a:srgbClr val="000000">
                <a:alpha val="64000"/>
              </a:srgbClr>
            </a:outerShdw>
          </a:effectLst>
          <a:scene3d>
            <a:camera prst="orthographicFront">
              <a:rot lat="0" lon="0" rev="0"/>
            </a:camera>
            <a:lightRig rig="threePt" dir="tl">
              <a:rot lat="0" lon="0" rev="1200000"/>
            </a:lightRig>
          </a:scene3d>
          <a:sp3d>
            <a:bevelT w="25400" h="12700"/>
          </a:sp3d>
        </a:effectStyle>
      </a:effectStyleLst>
      <a:bgFillStyleLst>
        <a:solidFill>
          <a:schemeClr val="phClr"/>
        </a:solidFill>
        <a:gradFill rotWithShape="1">
          <a:gsLst>
            <a:gs pos="0">
              <a:schemeClr val="phClr">
                <a:tint val="90000"/>
                <a:lumMod val="110000"/>
              </a:schemeClr>
            </a:gs>
            <a:gs pos="100000">
              <a:schemeClr val="phClr">
                <a:shade val="64000"/>
                <a:lumMod val="98000"/>
              </a:schemeClr>
            </a:gs>
          </a:gsLst>
          <a:lin ang="5400000" scaled="0"/>
        </a:gradFill>
        <a:blipFill rotWithShape="1">
          <a:blip xmlns:r="http://schemas.openxmlformats.org/officeDocument/2006/relationships" r:embed="rId1">
            <a:duotone>
              <a:schemeClr val="phClr">
                <a:shade val="76000"/>
                <a:satMod val="180000"/>
              </a:schemeClr>
              <a:schemeClr val="phClr">
                <a:tint val="80000"/>
                <a:satMod val="120000"/>
                <a:lumMod val="180000"/>
              </a:schemeClr>
            </a:duotone>
          </a:blip>
          <a:stretch/>
        </a:blipFill>
      </a:bgFillStyleLst>
    </a:fmtScheme>
  </a:themeElements>
  <a:objectDefaults/>
  <a:extraClrSchemeLst/>
  <a:extLst>
    <a:ext uri="{05A4C25C-085E-4340-85A3-A5531E510DB2}">
      <thm15:themeFamily xmlns:thm15="http://schemas.microsoft.com/office/thememl/2012/main" name="Parallax" id="{3388167B-A2EB-4685-9635-1831D9AEF8C4}" vid="{4F7A876A-7598-49CA-AFC8-8EDA2551E4A7}"/>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Damask</Template>
  <TotalTime>242</TotalTime>
  <Words>887</Words>
  <Application>Microsoft Office PowerPoint</Application>
  <PresentationFormat>Widescreen</PresentationFormat>
  <Paragraphs>84</Paragraphs>
  <Slides>10</Slides>
  <Notes>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10</vt:i4>
      </vt:variant>
    </vt:vector>
  </HeadingPairs>
  <TitlesOfParts>
    <vt:vector size="16" baseType="lpstr">
      <vt:lpstr>Arial</vt:lpstr>
      <vt:lpstr>Calibri</vt:lpstr>
      <vt:lpstr>Corbel</vt:lpstr>
      <vt:lpstr>Times New Roman</vt:lpstr>
      <vt:lpstr>Wingdings</vt:lpstr>
      <vt:lpstr>Parallax</vt:lpstr>
      <vt:lpstr>Integrated Data Science Solutions: Time-Series Analysis &amp; RAG Systems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Mahboob Attar</dc:creator>
  <cp:lastModifiedBy>Mahboob Attar</cp:lastModifiedBy>
  <cp:revision>5</cp:revision>
  <dcterms:created xsi:type="dcterms:W3CDTF">2025-10-04T11:21:21Z</dcterms:created>
  <dcterms:modified xsi:type="dcterms:W3CDTF">2025-10-04T16:51:15Z</dcterms:modified>
</cp:coreProperties>
</file>